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82" r:id="rId3"/>
    <p:sldId id="269" r:id="rId4"/>
    <p:sldId id="336" r:id="rId5"/>
    <p:sldId id="284" r:id="rId6"/>
    <p:sldId id="285" r:id="rId7"/>
    <p:sldId id="283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2" r:id="rId44"/>
    <p:sldId id="323" r:id="rId45"/>
    <p:sldId id="324" r:id="rId46"/>
    <p:sldId id="325" r:id="rId47"/>
    <p:sldId id="326" r:id="rId48"/>
    <p:sldId id="327" r:id="rId49"/>
    <p:sldId id="328" r:id="rId50"/>
    <p:sldId id="329" r:id="rId51"/>
    <p:sldId id="330" r:id="rId52"/>
    <p:sldId id="331" r:id="rId53"/>
    <p:sldId id="332" r:id="rId54"/>
    <p:sldId id="333" r:id="rId55"/>
    <p:sldId id="334" r:id="rId56"/>
    <p:sldId id="335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F383772-3F7A-171B-CE10-CF9CCC0AD3FE}">
          <p14:sldIdLst>
            <p14:sldId id="256"/>
            <p14:sldId id="282"/>
            <p14:sldId id="269"/>
          </p14:sldIdLst>
        </p14:section>
        <p14:section name="Foundations" id="{CBD3A140-306D-709B-C5FE-D107E8C58638}">
          <p14:sldIdLst>
            <p14:sldId id="336"/>
            <p14:sldId id="284"/>
          </p14:sldIdLst>
        </p14:section>
        <p14:section name="The lifecycle" id="{54BFFAC8-F4F7-CB41-A5A3-51B181BF0471}">
          <p14:sldIdLst>
            <p14:sldId id="285"/>
            <p14:sldId id="283"/>
            <p14:sldId id="286"/>
          </p14:sldIdLst>
        </p14:section>
        <p14:section name="Guardrails" id="{A74776AB-90B5-AD43-B092-A11C89686233}">
          <p14:sldIdLst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Skills" id="{AED49999-F39C-BE48-A6B3-554B5EDDB473}">
          <p14:sldIdLst>
            <p14:sldId id="294"/>
            <p14:sldId id="295"/>
            <p14:sldId id="296"/>
          </p14:sldIdLst>
        </p14:section>
        <p14:section name="Orchestration" id="{4F7ED006-FE36-A849-BFCD-8CFD6F0399E9}">
          <p14:sldIdLst>
            <p14:sldId id="297"/>
            <p14:sldId id="298"/>
            <p14:sldId id="299"/>
            <p14:sldId id="300"/>
            <p14:sldId id="301"/>
            <p14:sldId id="303"/>
            <p14:sldId id="304"/>
            <p14:sldId id="305"/>
            <p14:sldId id="306"/>
            <p14:sldId id="307"/>
          </p14:sldIdLst>
        </p14:section>
        <p14:section name="Auditing and security" id="{130EFA89-987B-FB4C-9535-6763CE196FA1}">
          <p14:sldIdLst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  <p14:section name="Team health" id="{02B376A6-5128-4344-B771-EB2D8528457C}">
          <p14:sldIdLst>
            <p14:sldId id="317"/>
            <p14:sldId id="318"/>
            <p14:sldId id="319"/>
            <p14:sldId id="320"/>
            <p14:sldId id="321"/>
            <p14:sldId id="322"/>
            <p14:sldId id="323"/>
          </p14:sldIdLst>
        </p14:section>
        <p14:section name="Economics" id="{CA5FABDD-AD41-814E-A3E5-BBCFB7D2840A}">
          <p14:sldIdLst>
            <p14:sldId id="324"/>
            <p14:sldId id="325"/>
            <p14:sldId id="326"/>
            <p14:sldId id="327"/>
            <p14:sldId id="328"/>
          </p14:sldIdLst>
        </p14:section>
        <p14:section name="Limits" id="{95707D75-0D3B-E448-96A2-700924FA3205}">
          <p14:sldIdLst>
            <p14:sldId id="329"/>
            <p14:sldId id="330"/>
            <p14:sldId id="331"/>
            <p14:sldId id="332"/>
          </p14:sldIdLst>
        </p14:section>
        <p14:section name="Closing" id="{8E6842B6-9DC0-174A-AFA1-C15E102D924F}">
          <p14:sldIdLst>
            <p14:sldId id="333"/>
            <p14:sldId id="334"/>
          </p14:sldIdLst>
        </p14:section>
        <p14:section name="Summary" id="{407A10E6-7A7D-5CC4-E374-2F21FA790C2E}">
          <p14:sldIdLst>
            <p14:sldId id="33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651"/>
    <a:srgbClr val="079418"/>
    <a:srgbClr val="068817"/>
    <a:srgbClr val="74C427"/>
    <a:srgbClr val="007B3B"/>
    <a:srgbClr val="00713A"/>
    <a:srgbClr val="A6C44B"/>
    <a:srgbClr val="8AC4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24132B-B611-F548-99F6-8420C977F9F7}" v="1" dt="2026-09-14T01:27:37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6" autoAdjust="0"/>
    <p:restoredTop sz="86376" autoAdjust="0"/>
  </p:normalViewPr>
  <p:slideViewPr>
    <p:cSldViewPr snapToGrid="0" snapToObjects="1">
      <p:cViewPr varScale="1">
        <p:scale>
          <a:sx n="103" d="100"/>
          <a:sy n="103" d="100"/>
        </p:scale>
        <p:origin x="124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Relationship Id="rId63" Type="http://schemas.microsoft.com/office/2016/11/relationships/changesInfo" Target="changesInfos/changesInfo1.xml"/><Relationship Id="rId6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chstetler, Jacob" userId="7b3092aa-42da-45f9-a45c-5564b9ef6c85" providerId="ADAL" clId="{CC2BFF4E-AA3D-507E-B1FC-6CAC7626DD0D}"/>
    <pc:docChg chg="undo custSel addSld modSld modMainMaster addSection delSection">
      <pc:chgData name="Hochstetler, Jacob" userId="7b3092aa-42da-45f9-a45c-5564b9ef6c85" providerId="ADAL" clId="{CC2BFF4E-AA3D-507E-B1FC-6CAC7626DD0D}" dt="2026-09-14T11:10:10.673" v="338" actId="700"/>
      <pc:docMkLst>
        <pc:docMk/>
      </pc:docMkLst>
      <pc:sldChg chg="addSp delSp modSp new mod modClrScheme chgLayout">
        <pc:chgData name="Hochstetler, Jacob" userId="7b3092aa-42da-45f9-a45c-5564b9ef6c85" providerId="ADAL" clId="{CC2BFF4E-AA3D-507E-B1FC-6CAC7626DD0D}" dt="2026-09-14T11:10:10.673" v="338" actId="700"/>
        <pc:sldMkLst>
          <pc:docMk/>
          <pc:sldMk cId="4024389998" sldId="283"/>
        </pc:sldMkLst>
        <pc:spChg chg="del mod ord">
          <ac:chgData name="Hochstetler, Jacob" userId="7b3092aa-42da-45f9-a45c-5564b9ef6c85" providerId="ADAL" clId="{CC2BFF4E-AA3D-507E-B1FC-6CAC7626DD0D}" dt="2026-09-14T11:10:10.673" v="338" actId="700"/>
          <ac:spMkLst>
            <pc:docMk/>
            <pc:sldMk cId="4024389998" sldId="283"/>
            <ac:spMk id="2" creationId="{052D4D16-3259-4E6D-F293-4365A9B43701}"/>
          </ac:spMkLst>
        </pc:spChg>
        <pc:spChg chg="del mod ord">
          <ac:chgData name="Hochstetler, Jacob" userId="7b3092aa-42da-45f9-a45c-5564b9ef6c85" providerId="ADAL" clId="{CC2BFF4E-AA3D-507E-B1FC-6CAC7626DD0D}" dt="2026-09-14T11:10:10.673" v="338" actId="700"/>
          <ac:spMkLst>
            <pc:docMk/>
            <pc:sldMk cId="4024389998" sldId="283"/>
            <ac:spMk id="3" creationId="{2AD83BBA-0722-244C-1907-19FAC03C3D46}"/>
          </ac:spMkLst>
        </pc:spChg>
        <pc:spChg chg="add mod ord">
          <ac:chgData name="Hochstetler, Jacob" userId="7b3092aa-42da-45f9-a45c-5564b9ef6c85" providerId="ADAL" clId="{CC2BFF4E-AA3D-507E-B1FC-6CAC7626DD0D}" dt="2026-09-14T11:10:10.673" v="338" actId="700"/>
          <ac:spMkLst>
            <pc:docMk/>
            <pc:sldMk cId="4024389998" sldId="283"/>
            <ac:spMk id="4" creationId="{B8BA588A-C7B5-ED3C-1C44-C76F7B26DB39}"/>
          </ac:spMkLst>
        </pc:spChg>
        <pc:spChg chg="add mod ord">
          <ac:chgData name="Hochstetler, Jacob" userId="7b3092aa-42da-45f9-a45c-5564b9ef6c85" providerId="ADAL" clId="{CC2BFF4E-AA3D-507E-B1FC-6CAC7626DD0D}" dt="2026-09-14T11:10:10.673" v="338" actId="700"/>
          <ac:spMkLst>
            <pc:docMk/>
            <pc:sldMk cId="4024389998" sldId="283"/>
            <ac:spMk id="5" creationId="{8F306AE0-C82F-CBE0-1C4F-1FE7B5B7AB4B}"/>
          </ac:spMkLst>
        </pc:spChg>
        <pc:spChg chg="add mod ord">
          <ac:chgData name="Hochstetler, Jacob" userId="7b3092aa-42da-45f9-a45c-5564b9ef6c85" providerId="ADAL" clId="{CC2BFF4E-AA3D-507E-B1FC-6CAC7626DD0D}" dt="2026-09-14T11:10:10.673" v="338" actId="700"/>
          <ac:spMkLst>
            <pc:docMk/>
            <pc:sldMk cId="4024389998" sldId="283"/>
            <ac:spMk id="6" creationId="{1F53F1DE-0FCB-8230-83B6-FCC407DDB8BF}"/>
          </ac:spMkLst>
        </pc:spChg>
      </pc:sldChg>
      <pc:sldMasterChg chg="addSldLayout modSldLayout">
        <pc:chgData name="Hochstetler, Jacob" userId="7b3092aa-42da-45f9-a45c-5564b9ef6c85" providerId="ADAL" clId="{CC2BFF4E-AA3D-507E-B1FC-6CAC7626DD0D}" dt="2026-09-14T01:29:09.750" v="336" actId="14100"/>
        <pc:sldMasterMkLst>
          <pc:docMk/>
          <pc:sldMasterMk cId="789863526" sldId="2147483648"/>
        </pc:sldMasterMkLst>
        <pc:sldLayoutChg chg="addSp delSp modSp add mod modTransition">
          <pc:chgData name="Hochstetler, Jacob" userId="7b3092aa-42da-45f9-a45c-5564b9ef6c85" providerId="ADAL" clId="{CC2BFF4E-AA3D-507E-B1FC-6CAC7626DD0D}" dt="2026-09-14T01:29:09.750" v="336" actId="14100"/>
          <pc:sldLayoutMkLst>
            <pc:docMk/>
            <pc:sldMasterMk cId="789863526" sldId="2147483648"/>
            <pc:sldLayoutMk cId="1568529662" sldId="2147483663"/>
          </pc:sldLayoutMkLst>
          <pc:spChg chg="add del">
            <ac:chgData name="Hochstetler, Jacob" userId="7b3092aa-42da-45f9-a45c-5564b9ef6c85" providerId="ADAL" clId="{CC2BFF4E-AA3D-507E-B1FC-6CAC7626DD0D}" dt="2026-09-14T01:27:37.523" v="319" actId="11529"/>
            <ac:spMkLst>
              <pc:docMk/>
              <pc:sldMasterMk cId="789863526" sldId="2147483648"/>
              <pc:sldLayoutMk cId="1568529662" sldId="2147483663"/>
              <ac:spMk id="2" creationId="{49B37F85-8FDE-CD51-D05E-CFEB74794D40}"/>
            </ac:spMkLst>
          </pc:spChg>
          <pc:spChg chg="add mod">
            <ac:chgData name="Hochstetler, Jacob" userId="7b3092aa-42da-45f9-a45c-5564b9ef6c85" providerId="ADAL" clId="{CC2BFF4E-AA3D-507E-B1FC-6CAC7626DD0D}" dt="2026-09-14T01:28:30.575" v="323" actId="1076"/>
            <ac:spMkLst>
              <pc:docMk/>
              <pc:sldMasterMk cId="789863526" sldId="2147483648"/>
              <pc:sldLayoutMk cId="1568529662" sldId="2147483663"/>
              <ac:spMk id="3" creationId="{0BFF780A-A109-69AB-ED5C-F4D2E802FB64}"/>
            </ac:spMkLst>
          </pc:spChg>
          <pc:spChg chg="mod">
            <ac:chgData name="Hochstetler, Jacob" userId="7b3092aa-42da-45f9-a45c-5564b9ef6c85" providerId="ADAL" clId="{CC2BFF4E-AA3D-507E-B1FC-6CAC7626DD0D}" dt="2026-09-14T01:29:09.750" v="336" actId="14100"/>
            <ac:spMkLst>
              <pc:docMk/>
              <pc:sldMasterMk cId="789863526" sldId="2147483648"/>
              <pc:sldLayoutMk cId="1568529662" sldId="2147483663"/>
              <ac:spMk id="4" creationId="{219EDF51-7178-884E-AA56-09093B00B714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1FBDEF-DBFC-FC49-871A-C99ABD2FA27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171A71-8406-BB41-B862-A13FED6BF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9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Welcome, quick framing: dual role as a platform engineer at Fidelity and a clinical professor here.</a:t>
            </a:r>
          </a:p>
          <a:p>
            <a:r>
              <a:t>This talk blends daily practice with what the research and news actually show about AI coding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171A71-8406-BB41-B862-A13FED6BFB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65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Nine stops: what a dark factory is, how the SDLC (Software Development Life Cycle) changes, the guardrails that make it safe, orchestration roles, security, team health, economics, and where the limits are.</a:t>
            </a:r>
          </a:p>
          <a:p>
            <a:r>
              <a:t>Interrupt any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171A71-8406-BB41-B862-A13FED6BFB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926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Standard disclaimer, said briefly: personal views, not an institutional position from either employer.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B0115-D4F5-BAC1-0313-723D7EF0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D2D88E-8EE9-DA67-F3DA-2B3D4F9F80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2508F-3311-718D-8C4E-B8C8DF02EE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FANUC (Fuji Automatic Numerical Control) is a Japanese company, the world’s largest industrial robot maker, headquartered near Mount Fuji.</a:t>
            </a:r>
          </a:p>
          <a:p>
            <a:r>
              <a:t>Lights-out manufacturing is the metaphor — FANUC's plants build robots unsupervised because guardrails, not blind trust, make that safe.</a:t>
            </a:r>
          </a:p>
          <a:p>
            <a:r>
              <a:t>Same logic for code: humans set intent, agents execute, guardrails keep it honest.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D6D4B-6342-AEC3-EA13-4550E8F35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90570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real story behind the 2021-2026 jump — not smarter models, but models that stay coherent longer without a human re-steering them.</a:t>
            </a:r>
          </a:p>
          <a:p>
            <a:r>
              <a:t>METR (Model Evaluation and Threat Research) tracks this publicly; it's the best predictor of what an agent can be trusted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traditional six-phase SDLC on the next slide, then show how it compresses.</a:t>
            </a:r>
          </a:p>
          <a:p>
            <a:r>
              <a:t>The gates don't vanish — they move into the spec and into CI (Continuous Integration), except where someone has to be accountable by name.</a:t>
            </a:r>
          </a:p>
          <a:p>
            <a:r>
              <a:t>SSDLC here means Secure Software Development Life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SDLC most of you would recognize from a software engineering course — six phases, a human sign-off at each one.</a:t>
            </a:r>
          </a:p>
          <a:p>
            <a:r>
              <a:t>Point at each phase as you name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six phases, but Spec absorbs more of the thinking a human used to do at each later gate, and Implement/Verify become one continuous loop instead of two sequential ones.</a:t>
            </a:r>
          </a:p>
          <a:p>
            <a:r>
              <a:t>Point out the attack-surface arrow — that's new, and it's the whole security section coming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Types, linters, and tests all fire in parallel on every commit, in seconds — cheap checks first.</a:t>
            </a:r>
          </a:p>
          <a:p>
            <a:r>
              <a:t>The agent hits friction from the compiler minutes before a human review would ever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Tests are the first guardrail agent output has to clear.</a:t>
            </a:r>
          </a:p>
          <a:p>
            <a:r>
              <a:t>Say explicitly: coverage percentage is a floor, not a target — more on why two slides from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trap specific to agents: they'll write a test that locks in a bug as 'expected' behavior if you let them own both the code and its own test spec.</a:t>
            </a:r>
          </a:p>
          <a:p>
            <a:r>
              <a:t>Mutation testing is the check — deliberately break the code, confirm the test suite notices.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Purely mechanical, deterministic, no model involved — this is why static analysis is cheap and worth running on literally every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Go's the day-to-day example here since that's what I write, but the point generalizes to any strong type system — the compiler is the fastest, cheapest feedback loop an agent 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ties the guardrails together: none of them count for anything unless CI actually blocks a merge on failure.</a:t>
            </a:r>
          </a:p>
          <a:p>
            <a:r>
              <a:t>Same pipeline, human or agent authored — no special lane for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Coverage is easy to game; these five are harder to fake because they measure outcomes, not activity.</a:t>
            </a:r>
          </a:p>
          <a:p>
            <a:r>
              <a:t>Escaped defect rate is probably the single most honest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Skills are the deck's answer to 'how do you make an agent behave consistently' — versioned, reviewed, narrow.</a:t>
            </a:r>
          </a:p>
          <a:p>
            <a:r>
              <a:t>Contrast with a disposable prompt or an opaque fine-tune.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parts, and if a skill can't be described this cleanly, it's probably too broad to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discipline as application code — this is the part practitioners skip, and it's the part that makes an incident postmortem possible six months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four-role split — planner, executor, tooler, auditor — comes up in the next two orchestration slides.</a:t>
            </a:r>
          </a:p>
          <a:p>
            <a:r>
              <a:t>Note what each arrow carries: task list, diff, results, sign-off.</a:t>
            </a:r>
          </a:p>
          <a:p>
            <a:r>
              <a:t>That's the audit trail forming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core argument: mixing planning and execution in one agent means you can't tell which stage introduced a failure.</a:t>
            </a:r>
          </a:p>
          <a:p>
            <a:r>
              <a:t>Mirrors separation-of-duties in any regulated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 tour of each role — note the permission boundary getting narrower at each stage.</a:t>
            </a:r>
          </a:p>
          <a:p>
            <a:r>
              <a:t>No merge without auditor sign-off, full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actual ways the four-role split breaks in practice — worth dwelling on plan drift and rubber-stamping especially, since those are hardest to catch from outside.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Real, working example of this orchestration model at scale — built by Steve Yegge.</a:t>
            </a:r>
          </a:p>
          <a:p>
            <a:r>
              <a:t>Read the 'Fortune 100 teams' claim critically: it's the builder's own framing, not independently audited.</a:t>
            </a:r>
          </a:p>
          <a:p>
            <a:r>
              <a:t>Yegge is a well-known engineer and blogger — ex-Amazon, ex-Google, co-author of the 2025 book Vibe Coding.</a:t>
            </a:r>
          </a:p>
          <a:p>
            <a:r>
              <a:t>These are the four leading AI coding-agent products — Claude Code (Anthropic), Codex (OpenAI), Copilot (GitHub/Microsoft), and Gemini (Google) — that Gastown coordinates across.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Ladder of autonomy, left to right.</a:t>
            </a:r>
          </a:p>
          <a:p>
            <a:r>
              <a:t>Most of you will walk into a stage 2-3 shop — not because the tech can't go further, but because the org hasn't built the governance to trust it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framework for deciding whether any single task is safe to hand off fully — not a company-wide policy, a per-task judgment.</a:t>
            </a:r>
          </a:p>
          <a:p>
            <a:r>
              <a:t>Next slide makes that concrete with 12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room through a few points — especially the ones sitting in the unsafe quadrant, like Kubernetes operators and production IaC.</a:t>
            </a:r>
          </a:p>
          <a:p>
            <a:r>
              <a:t>That's the uncomfortable one: real stakes, rigor that hasn't caught up.</a:t>
            </a:r>
          </a:p>
          <a:p>
            <a:r>
              <a:t>IaC = Infrastructure as Code — infrastructure defined and provisioned through version-controlled code rather than manual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reframes what 'AI engineering' actually means day to day — not prompt tuning, but reshaping a task until it fits one of the three safe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91 versus 42 is the whole talk in two numbers — deployed is easy, trusted is hard.</a:t>
            </a:r>
          </a:p>
          <a:p>
            <a:r>
              <a:t>Goldman and JPMorgan are the exception that proves the rule: governance, not model access, got them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Everything from here to the security section is about making 'the AI did it' into a traceable, attributable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practical payoff of good logging — being able to rerun the exact sequence that produced a bad outcome.</a:t>
            </a:r>
          </a:p>
          <a:p>
            <a:r>
              <a:t>Root cause usually lives in the plan, not the generated code, which is why you log the plan, not just the diff.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where 'the agent decided' runs into a wall — regulators want a named accountable human, always.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this step by step — it's the clearest explanation in the deck of why chained low-severity issues are more dangerous with an agent in the loop than without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real case studies — XBOW's research chain and the JADEPUFFER campaign.</a:t>
            </a:r>
          </a:p>
          <a:p>
            <a:r>
              <a:t>Correction if you've seen this covered elsewhere: JADEPUFFER used a code-injection flaw, not an auth-bypass.</a:t>
            </a:r>
          </a:p>
          <a:p>
            <a:r>
              <a:t>XBOW is an autonomous AI penetration-testing company — their research demonstrated the chain.</a:t>
            </a:r>
          </a:p>
          <a:p>
            <a:r>
              <a:t>Blind SSRF: the agent tricks a server into requesting an internal address without seeing the response back.</a:t>
            </a:r>
          </a:p>
          <a:p>
            <a:r>
              <a:t>JADEPUFFER was real agentic ransomware, July 2026 — not just data theft, a fully autonomous extortion campaign against a production database.</a:t>
            </a:r>
          </a:p>
          <a:p>
            <a:r>
              <a:t>Langflow is an open-source visual builder for AI/LLM workflows.</a:t>
            </a:r>
          </a:p>
          <a:p>
            <a:r>
              <a:t>Sysdig is a cloud and container security company; they published the writeup.</a:t>
            </a:r>
          </a:p>
          <a:p>
            <a:r>
              <a:t>CVE = Common Vulnerabilities and Exposures, the standard public identifier for a known, catalogued security flaw.</a:t>
            </a:r>
          </a:p>
          <a:p>
            <a:r>
              <a:t>SSRF stands for Server-Side Request Forgery.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rule that ties the whole security section together: an agent cannot distinguish an instruction from data it's reading.</a:t>
            </a:r>
          </a:p>
          <a:p>
            <a:r>
              <a:t>Treat every input as untrusted.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Replit is the best-documented case — worth reading the actual incident writeup, not just this summary.</a:t>
            </a:r>
          </a:p>
          <a:p>
            <a:r>
              <a:t>Replit is a cloud-based coding platform that also offers an integrated AI coding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practical checklist — what you'd actually configure on day one of giving an agent write access to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Easy to forget: agent logs are a new place secrets leak.</a:t>
            </a:r>
          </a:p>
          <a:p>
            <a:r>
              <a:t>Rotate on principle, not just on suspicion.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where the human side of the story starts — infrastructure built for human-paced activity strains under agent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fix isn't more reviewers, it's better routing — let risk, not arrival order, decide what gets a human's full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Simple decision tree, but it's the mechanism behind '90% shallow, 10% deep' review that actually scales.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Speaking directly to the room here — this is what to listen for in an interview, and what burnout looks like from outside a team before you're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of the few places where the cheaper choice and the better choice are the same choice — clearing context saves money and improves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Practical git hygiene for anyone running multiple agents in parallel — this is daily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Small commits aren't just good hygiene — they're the audit trail.</a:t>
            </a:r>
          </a:p>
          <a:p>
            <a:r>
              <a:t>Worth connecting back to the auditing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88% failure to reach production — note the caveat about where that number originates.</a:t>
            </a:r>
          </a:p>
          <a:p>
            <a:r>
              <a:t>The real blocker is almost never the model.</a:t>
            </a:r>
          </a:p>
          <a:p>
            <a:r>
              <a:t>Northflank is a developer deployment platform company.</a:t>
            </a:r>
          </a:p>
          <a:p>
            <a:r>
              <a:t>MIT's GenAI Divide is a July 2025 study — 95% of enterprise AI pilots showed no measurable financial return.</a:t>
            </a:r>
          </a:p>
          <a:p>
            <a:r>
              <a:t>Gartner is a major IT research and advisory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280x drop is real but specific — it's cost for a fixed performance level, not a blanket trend.</a:t>
            </a:r>
          </a:p>
          <a:p>
            <a:r>
              <a:t>Note the caveat on the market-size figure too.</a:t>
            </a:r>
          </a:p>
          <a:p>
            <a:r>
              <a:t>Stanford AI Index is an academic annual report on AI trends; a16z is Andreessen Horowitz, a major venture capital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honest here that correlation and causation are being conflated in most press coverage — including possibly this slide.</a:t>
            </a:r>
          </a:p>
          <a:p>
            <a:r>
              <a:t>Layoffs.fyi is a crowdsourced tracker of tech layoffs.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personal-opinion slide — flag it as such out loud.</a:t>
            </a:r>
          </a:p>
          <a:p>
            <a:r>
              <a:t>My own experience doesn't generalize, and I say so.</a:t>
            </a:r>
          </a:p>
          <a:p>
            <a:r>
              <a:t>Oxford Economics is an economic forecasting and research 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Probably the single most important data point in the whole talk — worth pausing on.</a:t>
            </a:r>
          </a:p>
          <a:p>
            <a:r>
              <a:t>Ask the room to guess the number before revealing it.</a:t>
            </a:r>
          </a:p>
          <a:p>
            <a:r>
              <a:t>RCT: randomized controlled trial — developers randomly split into AI-assisted vs. not, to isolate the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 directly to the room here — this is the 'why does any of this matter to me'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reframed thesis — not 'review saves you,' but 'guardrails you design save you.' The xz and UMN (University of Minnesota) examples show review alone failing even with expert reviewers.</a:t>
            </a:r>
          </a:p>
          <a:p>
            <a:r>
              <a:t>The xz backdoor, 2024: a trusted maintainer account for the xz compression library, used in most Linux systems, inserted a hidden backdoor over years of contributions, caught almost by accident before wide deployment.</a:t>
            </a:r>
          </a:p>
          <a:p>
            <a:r>
              <a:t>UMN hypocrite commits, 2021: University of Minnesota researchers submitted deliberately buggy patches to the Linux kernel as an experiment on reviewer detection, and the kernel team banned the university in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Flag this one as contested — the lab result is real, whether it's happening at production scale is an open question.</a:t>
            </a:r>
          </a:p>
          <a:p>
            <a:r>
              <a:t>Don't overclaim.</a:t>
            </a:r>
          </a:p>
          <a:p>
            <a:r>
              <a:t>Shumailov et al. showed that models trained repeatedly on their own generated output progressively lose the tails of the original data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Closing caveat slide — nothing here is settled, including the framework just walked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it up — these are real prompts, not rhetorical ones.</a:t>
            </a:r>
          </a:p>
          <a:p>
            <a:r>
              <a:t>Let silence sit a few seconds before calling on someone.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out this is also the citation list for every claim made today — happy to share sources for anything specific.</a:t>
            </a:r>
          </a:p>
          <a:p>
            <a:r>
              <a:t>Simon Willison is a well-known open-source developer and AI-tools blogger, co-creator of Django and creator of Datasette.</a:t>
            </a:r>
          </a:p>
          <a:p>
            <a:r>
              <a:t>StrongDM is an infrastructure access and security company.</a:t>
            </a:r>
          </a:p>
          <a:p>
            <a:r>
              <a:t>Robert Half is a staffing and recruiting firm that runs an annual hiring survey.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Six-line recap — if they remember nothing else, it's these six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jpg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4420B5-BFBE-C945-8EC7-1C16E0BF8316}"/>
              </a:ext>
            </a:extLst>
          </p:cNvPr>
          <p:cNvSpPr/>
          <p:nvPr userDrawn="1"/>
        </p:nvSpPr>
        <p:spPr>
          <a:xfrm>
            <a:off x="0" y="0"/>
            <a:ext cx="12192000" cy="5625296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056F18-D9B3-4242-AC37-67089957F6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1280" y="5764882"/>
            <a:ext cx="1623487" cy="74930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BEA7A0C-8221-EF49-AA90-5E7592972877}"/>
              </a:ext>
            </a:extLst>
          </p:cNvPr>
          <p:cNvSpPr/>
          <p:nvPr userDrawn="1"/>
        </p:nvSpPr>
        <p:spPr>
          <a:xfrm>
            <a:off x="4527963" y="462521"/>
            <a:ext cx="3237181" cy="3237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6D9B12-33CC-DD40-8560-5D67BDC6AE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73961" y="1447607"/>
            <a:ext cx="2745184" cy="1267007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7491E67-242D-347C-7CD1-F831480AAC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5625296"/>
            <a:ext cx="12192000" cy="122412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Professor Name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729FA7F-954C-24DC-62EB-7F63508128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908376"/>
            <a:ext cx="12192000" cy="71691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7D1105B-B479-0EEB-3F01-7A2099EBF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874022"/>
            <a:ext cx="12192000" cy="542599"/>
          </a:xfrm>
          <a:prstGeom prst="rect">
            <a:avLst/>
          </a:prstGeom>
        </p:spPr>
        <p:txBody>
          <a:bodyPr anchor="ctr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Course Name</a:t>
            </a:r>
          </a:p>
        </p:txBody>
      </p:sp>
    </p:spTree>
    <p:extLst>
      <p:ext uri="{BB962C8B-B14F-4D97-AF65-F5344CB8AC3E}">
        <p14:creationId xmlns:p14="http://schemas.microsoft.com/office/powerpoint/2010/main" val="106089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164D18-EBA8-B449-93DE-6FA11B22F2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34009" y="2954622"/>
            <a:ext cx="608650" cy="6723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A21E202-1405-0748-AC07-4F6849EB57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34009" y="881530"/>
            <a:ext cx="5157991" cy="47734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5E9DAF-B38C-D64D-9225-8B1B71E6010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41280" y="5760720"/>
            <a:ext cx="1623487" cy="74930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BE2702B-97BB-5BAE-33F8-DF26C68CDD27}"/>
              </a:ext>
            </a:extLst>
          </p:cNvPr>
          <p:cNvCxnSpPr/>
          <p:nvPr userDrawn="1"/>
        </p:nvCxnSpPr>
        <p:spPr>
          <a:xfrm>
            <a:off x="0" y="881530"/>
            <a:ext cx="12192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D64AE96-119F-290A-29F4-2F75B839448E}"/>
              </a:ext>
            </a:extLst>
          </p:cNvPr>
          <p:cNvSpPr/>
          <p:nvPr userDrawn="1"/>
        </p:nvSpPr>
        <p:spPr>
          <a:xfrm>
            <a:off x="0" y="881530"/>
            <a:ext cx="7034009" cy="4773462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91C715-DE18-9745-6E5B-E040354C5F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3173" y="1091622"/>
            <a:ext cx="6680836" cy="435290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Item 1</a:t>
            </a:r>
          </a:p>
          <a:p>
            <a:pPr lvl="0"/>
            <a:r>
              <a:rPr lang="en-US" dirty="0"/>
              <a:t>Item 2</a:t>
            </a:r>
          </a:p>
          <a:p>
            <a:pPr lvl="0"/>
            <a:r>
              <a:rPr lang="en-US" dirty="0"/>
              <a:t>Item 3</a:t>
            </a:r>
          </a:p>
          <a:p>
            <a:pPr lvl="0"/>
            <a:r>
              <a:rPr lang="en-US" dirty="0"/>
              <a:t>Item 4</a:t>
            </a:r>
          </a:p>
          <a:p>
            <a:pPr lvl="0"/>
            <a:r>
              <a:rPr lang="en-US" dirty="0"/>
              <a:t>…</a:t>
            </a:r>
          </a:p>
          <a:p>
            <a:pPr lvl="0"/>
            <a:r>
              <a:rPr lang="en-US" dirty="0"/>
              <a:t>Item N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539A3E1-4740-2E5E-AEE2-0F792EA4CA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3173" y="1"/>
            <a:ext cx="11838827" cy="881153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053265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EDF51-7178-884E-AA56-09093B00B7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3171" y="1278968"/>
            <a:ext cx="11511595" cy="4404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Char char="•"/>
              <a:defRPr sz="3600" b="0"/>
            </a:lvl1pPr>
          </a:lstStyle>
          <a:p>
            <a:pPr lvl="0"/>
            <a:r>
              <a:rPr lang="en-US" dirty="0"/>
              <a:t>Slide Content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B0A01C-B0B6-DA4E-9AFD-196CB47035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1280" y="5760720"/>
            <a:ext cx="1623487" cy="74930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A647F2-D646-8611-2552-429E87ECD02B}"/>
              </a:ext>
            </a:extLst>
          </p:cNvPr>
          <p:cNvCxnSpPr/>
          <p:nvPr userDrawn="1"/>
        </p:nvCxnSpPr>
        <p:spPr>
          <a:xfrm>
            <a:off x="0" y="881530"/>
            <a:ext cx="12192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83C91CA3-875B-383F-DEFD-B75766377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3171" y="1"/>
            <a:ext cx="11511596" cy="881524"/>
          </a:xfrm>
          <a:prstGeom prst="rect">
            <a:avLst/>
          </a:prstGeom>
        </p:spPr>
        <p:txBody>
          <a:bodyPr anchor="ctr"/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972498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EDF51-7178-884E-AA56-09093B00B7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6927" y="5760713"/>
            <a:ext cx="9894354" cy="557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800" b="0"/>
            </a:lvl1pPr>
          </a:lstStyle>
          <a:p>
            <a:pPr lv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B0A01C-B0B6-DA4E-9AFD-196CB47035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1280" y="5760720"/>
            <a:ext cx="1623487" cy="74930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A647F2-D646-8611-2552-429E87ECD02B}"/>
              </a:ext>
            </a:extLst>
          </p:cNvPr>
          <p:cNvCxnSpPr/>
          <p:nvPr userDrawn="1"/>
        </p:nvCxnSpPr>
        <p:spPr>
          <a:xfrm>
            <a:off x="0" y="881530"/>
            <a:ext cx="12192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83C91CA3-875B-383F-DEFD-B75766377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3171" y="1"/>
            <a:ext cx="11511596" cy="881524"/>
          </a:xfrm>
          <a:prstGeom prst="rect">
            <a:avLst/>
          </a:prstGeom>
        </p:spPr>
        <p:txBody>
          <a:bodyPr anchor="ctr"/>
          <a:lstStyle/>
          <a:p>
            <a:r>
              <a:rPr lang="en-US" dirty="0"/>
              <a:t>Slide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FF780A-A109-69AB-ED5C-F4D2E802FB6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332524" y="1356623"/>
            <a:ext cx="11512550" cy="440409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296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863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9" r:id="rId2"/>
    <p:sldLayoutId id="2147483660" r:id="rId3"/>
    <p:sldLayoutId id="214748366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C34E5E3-CEF4-CB1E-AD50-74AA3EC15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88838"/>
            <a:ext cx="12192000" cy="636458"/>
          </a:xfrm>
        </p:spPr>
        <p:txBody>
          <a:bodyPr>
            <a:normAutofit/>
          </a:bodyPr>
          <a:lstStyle/>
          <a:p>
            <a:r>
              <a:rPr lang="en-US" dirty="0"/>
              <a:t>The Dark Factory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0590E-9480-D6AC-BF49-49F6799238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3774113"/>
            <a:ext cx="12192000" cy="715963"/>
          </a:xfrm>
        </p:spPr>
        <p:txBody>
          <a:bodyPr>
            <a:normAutofit/>
          </a:bodyPr>
          <a:lstStyle/>
          <a:p>
            <a:r>
              <a:rPr lang="en-US" dirty="0"/>
              <a:t>Use of AI in Industry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C1FCE4D-A7CC-58E5-F12D-77D92216FA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Jacob Hochstetler</a:t>
            </a:r>
          </a:p>
        </p:txBody>
      </p:sp>
    </p:spTree>
    <p:extLst>
      <p:ext uri="{BB962C8B-B14F-4D97-AF65-F5344CB8AC3E}">
        <p14:creationId xmlns:p14="http://schemas.microsoft.com/office/powerpoint/2010/main" val="3088161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BAD118-211A-F293-3AA9-B6C57E74F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44F1713-7256-C24F-326F-748B2D04E9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500" lnSpcReduction="20000"/>
          </a:bodyPr>
          <a:lstStyle/>
          <a:p>
            <a:pPr marL="571500" indent="-571500">
              <a:lnSpc>
                <a:spcPct val="100000"/>
              </a:lnSpc>
            </a:pPr>
            <a:r>
              <a:rPr lang="en-US" sz="3200" dirty="0"/>
              <a:t>Foundations</a:t>
            </a:r>
          </a:p>
          <a:p>
            <a:pPr marL="571500" indent="-571500">
              <a:lnSpc>
                <a:spcPct val="100000"/>
              </a:lnSpc>
            </a:pPr>
            <a:r>
              <a:rPr lang="en-US" sz="3200" dirty="0"/>
              <a:t>The lifecycle</a:t>
            </a:r>
          </a:p>
          <a:p>
            <a:pPr marL="571500" indent="-571500">
              <a:lnSpc>
                <a:spcPct val="100000"/>
              </a:lnSpc>
            </a:pPr>
            <a:r>
              <a:rPr lang="en-US" sz="3200" dirty="0"/>
              <a:t>Guardrails</a:t>
            </a:r>
          </a:p>
          <a:p>
            <a:pPr marL="571500" indent="-571500">
              <a:lnSpc>
                <a:spcPct val="100000"/>
              </a:lnSpc>
            </a:pPr>
            <a:r>
              <a:rPr lang="en-US" sz="3200" dirty="0"/>
              <a:t>Skills</a:t>
            </a:r>
          </a:p>
          <a:p>
            <a:pPr marL="571500" indent="-571500">
              <a:lnSpc>
                <a:spcPct val="100000"/>
              </a:lnSpc>
            </a:pPr>
            <a:r>
              <a:rPr lang="en-US" sz="3200" dirty="0"/>
              <a:t>Orchestration</a:t>
            </a:r>
          </a:p>
          <a:p>
            <a:pPr marL="571500" indent="-571500">
              <a:lnSpc>
                <a:spcPct val="100000"/>
              </a:lnSpc>
            </a:pPr>
            <a:r>
              <a:rPr lang="en-US" sz="3200" dirty="0"/>
              <a:t>Auditing &amp; security</a:t>
            </a:r>
          </a:p>
          <a:p>
            <a:pPr marL="571500" indent="-571500">
              <a:lnSpc>
                <a:spcPct val="100000"/>
              </a:lnSpc>
            </a:pPr>
            <a:r>
              <a:rPr lang="en-US" sz="3200" dirty="0"/>
              <a:t>Team health</a:t>
            </a:r>
          </a:p>
          <a:p>
            <a:pPr marL="571500" indent="-571500">
              <a:lnSpc>
                <a:spcPct val="100000"/>
              </a:lnSpc>
            </a:pPr>
            <a:r>
              <a:rPr lang="en-US" sz="3200" dirty="0"/>
              <a:t>Economics</a:t>
            </a:r>
          </a:p>
          <a:p>
            <a:pPr marL="571500" indent="-571500">
              <a:lnSpc>
                <a:spcPct val="100000"/>
              </a:lnSpc>
            </a:pPr>
            <a:r>
              <a:rPr lang="en-US" sz="3200" dirty="0"/>
              <a:t>Limits</a:t>
            </a:r>
          </a:p>
          <a:p>
            <a:pPr marL="571500" indent="-571500">
              <a:lnSpc>
                <a:spcPct val="100000"/>
              </a:lnSpc>
            </a:pPr>
            <a:r>
              <a:rPr lang="en-US" sz="3200" dirty="0"/>
              <a:t>Closing</a:t>
            </a:r>
          </a:p>
        </p:txBody>
      </p:sp>
    </p:spTree>
    <p:extLst>
      <p:ext uri="{BB962C8B-B14F-4D97-AF65-F5344CB8AC3E}">
        <p14:creationId xmlns:p14="http://schemas.microsoft.com/office/powerpoint/2010/main" val="14738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Disclaimer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40EBE598-3842-C778-EAC4-DD92D78EF12B}"/>
              </a:ext>
            </a:extLst>
          </p:cNvPr>
          <p:cNvSpPr txBox="1">
            <a:spLocks/>
          </p:cNvSpPr>
          <p:nvPr/>
        </p:nvSpPr>
        <p:spPr>
          <a:xfrm>
            <a:off x="0" y="881525"/>
            <a:ext cx="12192000" cy="596789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lang="en-US" sz="2800" i="1" dirty="0">
                <a:solidFill>
                  <a:schemeClr val="tx1"/>
                </a:solidFill>
              </a:rPr>
              <a:t>The views expressed here are my own and do not reflect those of my employers.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67EF8-3B44-6A70-6396-1F6F12D14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505AAE-A946-CD3E-F78D-1FA799DDE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Dark Factory Concept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FC581A-ED6F-8D9F-19F3-23DF7A4750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1784" lnSpcReduction="20000"/>
          </a:bodyPr>
          <a:lstStyle/>
          <a:p>
            <a:pPr marL="571500" indent="-571500"/>
            <a:r>
              <a:rPr lang="en-US" dirty="0"/>
              <a:t>A dark factory runs unattended, lights off, automated</a:t>
            </a:r>
          </a:p>
          <a:p>
            <a:pPr marL="571500" indent="-571500"/>
            <a:r>
              <a:rPr lang="en-US" dirty="0"/>
              <a:t>Software’s version: minimal human touch, agents build and merge</a:t>
            </a:r>
          </a:p>
          <a:p>
            <a:pPr marL="571500" indent="-571500"/>
            <a:r>
              <a:rPr lang="en-US" dirty="0"/>
              <a:t>Term borrowed from manufacturing’s “lights-out” floors</a:t>
            </a:r>
          </a:p>
          <a:p>
            <a:pPr lvl="1"/>
            <a:r>
              <a:rPr lang="en-US" dirty="0"/>
              <a:t>FANUC has run one lights-out since 2001</a:t>
            </a:r>
          </a:p>
          <a:p>
            <a:pPr marL="571500" indent="-571500"/>
            <a:r>
              <a:rPr lang="en-US" dirty="0"/>
              <a:t>Why now: task horizon, falling costs, competitive pressure</a:t>
            </a:r>
          </a:p>
          <a:p>
            <a:pPr marL="571500" indent="-571500"/>
            <a:r>
              <a:rPr lang="en-US" dirty="0"/>
              <a:t>Trust comes from guardrails, not blind delegation</a:t>
            </a:r>
          </a:p>
          <a:p>
            <a:pPr marL="571500" indent="-571500"/>
            <a:r>
              <a:rPr lang="en-US" dirty="0"/>
              <a:t>No real factory runs fully dark — neither does software</a:t>
            </a:r>
          </a:p>
        </p:txBody>
      </p:sp>
    </p:spTree>
    <p:extLst>
      <p:ext uri="{BB962C8B-B14F-4D97-AF65-F5344CB8AC3E}">
        <p14:creationId xmlns:p14="http://schemas.microsoft.com/office/powerpoint/2010/main" val="3279335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Actually Changed: Task Horizon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254" lnSpcReduction="20000"/>
          </a:bodyPr>
          <a:lstStyle/>
          <a:p>
            <a:pPr marL="571500" indent="-571500"/>
            <a:r>
              <a:rPr lang="en-US" dirty="0"/>
              <a:t>Early models held one function in working memory</a:t>
            </a:r>
          </a:p>
          <a:p>
            <a:pPr marL="571500" indent="-571500"/>
            <a:r>
              <a:rPr lang="en-US" dirty="0"/>
              <a:t>By 2026, agents sustain multi-hour, multi-file tasks</a:t>
            </a:r>
          </a:p>
          <a:p>
            <a:pPr marL="571500" indent="-571500"/>
            <a:r>
              <a:rPr lang="en-US" dirty="0"/>
              <a:t>Task horizon: how long an agent stays coherent</a:t>
            </a:r>
          </a:p>
          <a:p>
            <a:pPr lvl="1"/>
            <a:r>
              <a:rPr lang="en-US" dirty="0"/>
              <a:t>METR tracks this publicly as “task length”</a:t>
            </a:r>
          </a:p>
          <a:p>
            <a:pPr marL="571500" indent="-571500"/>
            <a:r>
              <a:rPr lang="en-US" dirty="0"/>
              <a:t>The 2021-to-2026 jump was about horizon, not raw capability</a:t>
            </a:r>
          </a:p>
          <a:p>
            <a:pPr marL="571500" indent="-571500"/>
            <a:r>
              <a:rPr lang="en-US" dirty="0"/>
              <a:t>Longer horizons mean less human re-prompting per task</a:t>
            </a:r>
          </a:p>
          <a:p>
            <a:pPr marL="571500" indent="-571500"/>
            <a:r>
              <a:rPr lang="en-US" dirty="0"/>
              <a:t>Horizon still degrades: long sessions drift without discipline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SSDLC to Dark Factory SDLC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66784" lnSpcReduction="20000"/>
          </a:bodyPr>
          <a:lstStyle/>
          <a:p>
            <a:pPr marL="571500" indent="-571500"/>
            <a:r>
              <a:rPr lang="en-US" dirty="0"/>
              <a:t>Traditional SSDLC: human gate at every phase</a:t>
            </a:r>
          </a:p>
          <a:p>
            <a:pPr marL="571500" indent="-571500"/>
            <a:r>
              <a:rPr lang="en-US" dirty="0"/>
              <a:t>Requirements, design, implement, verify, release, respond — </a:t>
            </a:r>
            <a:r>
              <a:rPr lang="en-US" i="1" dirty="0"/>
              <a:t>each gated</a:t>
            </a:r>
          </a:p>
          <a:p>
            <a:pPr marL="571500" indent="-571500"/>
            <a:r>
              <a:rPr lang="en-US" dirty="0"/>
              <a:t>Dark factory version: agents own most of the gates</a:t>
            </a:r>
          </a:p>
          <a:p>
            <a:pPr marL="571500" indent="-571500"/>
            <a:r>
              <a:rPr lang="en-US" dirty="0"/>
              <a:t>Design, implement, and verify compress into one continuous loop</a:t>
            </a:r>
          </a:p>
          <a:p>
            <a:pPr marL="571500" indent="-571500"/>
            <a:r>
              <a:rPr lang="en-US" dirty="0"/>
              <a:t>Per-change human review and phase-based pen testing disappear</a:t>
            </a:r>
          </a:p>
          <a:p>
            <a:pPr lvl="1"/>
            <a:r>
              <a:rPr lang="en-US" dirty="0"/>
              <a:t>Named-approver sign-off survives only for high-risk releases</a:t>
            </a:r>
          </a:p>
          <a:p>
            <a:pPr marL="571500" indent="-571500"/>
            <a:r>
              <a:rPr lang="en-US" dirty="0"/>
              <a:t>New: agents receive untrusted input mid-build, with no traditional phase to handle it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06AE0-C82F-CBE0-1C4F-1FE7B5B7AB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1622" y="4517129"/>
            <a:ext cx="9894354" cy="557791"/>
          </a:xfrm>
        </p:spPr>
        <p:txBody>
          <a:bodyPr>
            <a:normAutofit/>
          </a:bodyPr>
          <a:lstStyle/>
          <a:p>
            <a:r>
              <a:rPr lang="en-US" dirty="0"/>
              <a:t>Every phase has a human gate — weeks to quarters, start to finish.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BA588A-C7B5-ED3C-1C44-C76F7B26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Traditional Pipeline</a:t>
            </a:r>
          </a:p>
        </p:txBody>
      </p:sp>
      <p:pic>
        <p:nvPicPr>
          <p:cNvPr id="7" name="Diagram" descr="A flowchart showing six phases of a traditional secure software development lifecycle in sequence: Requirements, Design, Implement, Verify/Test, Release, Respond. Each phase has a human gat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24" y="3169533"/>
            <a:ext cx="11512550" cy="77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89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06AE0-C82F-CBE0-1C4F-1FE7B5B7AB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1622" y="4965185"/>
            <a:ext cx="9894354" cy="55779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gates don’t disappear — they move left into the spec and down into CI.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BA588A-C7B5-ED3C-1C44-C76F7B26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Compressed Pipeline</a:t>
            </a:r>
          </a:p>
        </p:txBody>
      </p:sp>
      <p:pic>
        <p:nvPicPr>
          <p:cNvPr id="7" name="Diagram" descr="A flowchart showing the dark-factory version of the same lifecycle: Spec, then Plan, then a compressed box containing Implement and Verify running concurrently, then Release and Respond, with a feedback loop from Respond back to Plan. An arrow labeled &quot;agent attack surface, no traditional counterpart&quot; points into the compressed Implement/Verify box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24" y="2376576"/>
            <a:ext cx="11512550" cy="236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89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06AE0-C82F-CBE0-1C4F-1FE7B5B7AB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Layers run in parallel: the agent hits cheap friction in seconds, humans see it last.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BA588A-C7B5-ED3C-1C44-C76F7B26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Guardrails: Defense in Depth</a:t>
            </a:r>
          </a:p>
        </p:txBody>
      </p:sp>
      <p:pic>
        <p:nvPicPr>
          <p:cNvPr id="7" name="Diagram" descr="A flowchart showing agent output feeding three parallel checks — types, linters, tests, each labeled with how fast it runs — that converge on a merge gate, which then feeds audit and human review downstream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82" y="1356623"/>
            <a:ext cx="10591433" cy="440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89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Guardrails: Automated Testing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4754" lnSpcReduction="20000"/>
          </a:bodyPr>
          <a:lstStyle/>
          <a:p>
            <a:pPr marL="571500" indent="-571500"/>
            <a:r>
              <a:rPr lang="en-US" dirty="0"/>
              <a:t>Tests are the first guardrail agent output must pass</a:t>
            </a:r>
          </a:p>
          <a:p>
            <a:pPr marL="571500" indent="-571500"/>
            <a:r>
              <a:rPr lang="en-US" dirty="0"/>
              <a:t>Unit tests catch logic errors before any human looks at it</a:t>
            </a:r>
          </a:p>
          <a:p>
            <a:pPr marL="571500" indent="-571500"/>
            <a:r>
              <a:rPr lang="en-US" dirty="0"/>
              <a:t>Integration tests catch wiring and contract failures</a:t>
            </a:r>
          </a:p>
          <a:p>
            <a:pPr marL="571500" indent="-571500"/>
            <a:r>
              <a:rPr lang="en-US" dirty="0"/>
              <a:t>Property-based and scenario tests probe edge cases automatically</a:t>
            </a:r>
          </a:p>
          <a:p>
            <a:pPr marL="571500" indent="-571500"/>
            <a:r>
              <a:rPr lang="en-US" dirty="0"/>
              <a:t>A failing test blocks merge — no exceptions for agents</a:t>
            </a:r>
          </a:p>
          <a:p>
            <a:pPr marL="571500" indent="-571500"/>
            <a:r>
              <a:rPr lang="en-US" dirty="0"/>
              <a:t>Coverage is a floor, not a score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Testing Pitfall: Agents Writing Their Own Tests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4754" lnSpcReduction="20000"/>
          </a:bodyPr>
          <a:lstStyle/>
          <a:p>
            <a:pPr marL="571500" indent="-571500"/>
            <a:r>
              <a:rPr lang="en-US" dirty="0"/>
              <a:t>Agents happily write tests that pass against broken code</a:t>
            </a:r>
          </a:p>
          <a:p>
            <a:pPr marL="571500" indent="-571500"/>
            <a:r>
              <a:rPr lang="en-US" dirty="0"/>
              <a:t>Tests asserting current behavior lock in bugs as “expected”</a:t>
            </a:r>
          </a:p>
          <a:p>
            <a:pPr marL="571500" indent="-571500"/>
            <a:r>
              <a:rPr lang="en-US" dirty="0"/>
              <a:t>Tautological tests inflate coverage, prove nothing</a:t>
            </a:r>
          </a:p>
          <a:p>
            <a:pPr marL="571500" indent="-571500"/>
            <a:r>
              <a:rPr lang="en-US" dirty="0"/>
              <a:t>Fix: humans own the spec, agents own the implementation</a:t>
            </a:r>
          </a:p>
          <a:p>
            <a:pPr marL="571500" indent="-571500"/>
            <a:r>
              <a:rPr lang="en-US" dirty="0"/>
              <a:t>Mutation testing exposes tests that never actually fail</a:t>
            </a:r>
          </a:p>
          <a:p>
            <a:pPr marL="571500" indent="-571500"/>
            <a:r>
              <a:rPr lang="en-US" dirty="0"/>
              <a:t>A green suite an agent wrote for itself is weak evidence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Guardrails: Static Analysis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3171" y="1278968"/>
            <a:ext cx="11838829" cy="4404656"/>
          </a:xfrm>
        </p:spPr>
        <p:txBody>
          <a:bodyPr>
            <a:normAutofit fontScale="88158"/>
          </a:bodyPr>
          <a:lstStyle/>
          <a:p>
            <a:pPr marL="571500" indent="-571500"/>
            <a:r>
              <a:rPr lang="en-US" dirty="0"/>
              <a:t>Static analysis enforces safety without running code</a:t>
            </a:r>
          </a:p>
          <a:p>
            <a:pPr marL="571500" indent="-571500"/>
            <a:r>
              <a:rPr lang="en-US" dirty="0"/>
              <a:t>Linters reject entire classes of bugs before runtime</a:t>
            </a:r>
          </a:p>
          <a:p>
            <a:pPr marL="571500" indent="-571500"/>
            <a:r>
              <a:rPr lang="en-US" dirty="0"/>
              <a:t>Security linters flag SQL injection, hardcoded secrets</a:t>
            </a:r>
          </a:p>
          <a:p>
            <a:pPr marL="571500" indent="-571500"/>
            <a:r>
              <a:rPr lang="en-US" dirty="0"/>
              <a:t>Runs fast, cheap, on every commit — no model inference needed</a:t>
            </a:r>
          </a:p>
          <a:p>
            <a:pPr marL="571500" indent="-571500"/>
            <a:r>
              <a:rPr lang="en-US" dirty="0"/>
              <a:t>Pairs with tests: static catches shape, tests catch behavior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 Systems as Free Guardrails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0658" lnSpcReduction="10000"/>
          </a:bodyPr>
          <a:lstStyle/>
          <a:p>
            <a:pPr marL="571500" indent="-571500"/>
            <a:r>
              <a:rPr lang="en-US" dirty="0"/>
              <a:t>A strong type system rejects bad code before any test</a:t>
            </a:r>
          </a:p>
          <a:p>
            <a:pPr marL="571500" indent="-571500"/>
            <a:r>
              <a:rPr lang="en-US" dirty="0"/>
              <a:t>Go example: explicit error returns make ignored failures visible</a:t>
            </a:r>
          </a:p>
          <a:p>
            <a:pPr marL="571500" indent="-571500"/>
            <a:r>
              <a:rPr lang="en-US" dirty="0"/>
              <a:t>Compile errors are the cheapest feedback an agent gets</a:t>
            </a:r>
          </a:p>
          <a:p>
            <a:pPr marL="571500" indent="-571500"/>
            <a:r>
              <a:rPr lang="en-US" dirty="0"/>
              <a:t>Typed interfaces constrain what an agent can plausibly generate</a:t>
            </a:r>
          </a:p>
          <a:p>
            <a:pPr marL="571500" indent="-571500"/>
            <a:r>
              <a:rPr lang="en-US" dirty="0"/>
              <a:t>Narrow types encode intent an agent can’t misread</a:t>
            </a:r>
          </a:p>
          <a:p>
            <a:pPr marL="571500" indent="-571500"/>
            <a:r>
              <a:rPr lang="en-US" dirty="0"/>
              <a:t>The argument generalizes past Go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CI as the Enforcement Point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1784" lnSpcReduction="10000"/>
          </a:bodyPr>
          <a:lstStyle/>
          <a:p>
            <a:pPr marL="571500" indent="-571500"/>
            <a:r>
              <a:rPr lang="en-US" dirty="0"/>
              <a:t>Guardrails only count if something blocks a failing merge</a:t>
            </a:r>
          </a:p>
          <a:p>
            <a:pPr marL="571500" indent="-571500"/>
            <a:r>
              <a:rPr lang="en-US" dirty="0"/>
              <a:t>CI combines the layers: types, linters, tests, then gates</a:t>
            </a:r>
          </a:p>
          <a:p>
            <a:pPr marL="571500" indent="-571500"/>
            <a:r>
              <a:rPr lang="en-US" dirty="0"/>
              <a:t>Required checks: build, test, lint, security scan, coverage</a:t>
            </a:r>
          </a:p>
          <a:p>
            <a:pPr marL="571500" indent="-571500"/>
            <a:r>
              <a:rPr lang="en-US" dirty="0"/>
              <a:t>Branch protection stops agents from bypassing the gate</a:t>
            </a:r>
          </a:p>
          <a:p>
            <a:pPr marL="571500" indent="-571500"/>
            <a:r>
              <a:rPr lang="en-US" dirty="0"/>
              <a:t>Same pipeline for human and agent PRs — no fast lane</a:t>
            </a:r>
          </a:p>
          <a:p>
            <a:pPr marL="571500" indent="-571500"/>
            <a:r>
              <a:rPr lang="en-US" dirty="0"/>
              <a:t>Not enforced in CI? It’s documentation, not a guardrail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Guardrail Metrics That Actually Matter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4616" lnSpcReduction="20000"/>
          </a:bodyPr>
          <a:lstStyle/>
          <a:p>
            <a:pPr marL="571500" indent="-571500"/>
            <a:r>
              <a:rPr lang="en-US" dirty="0"/>
              <a:t>Coverage percentage alone is easy to game</a:t>
            </a:r>
          </a:p>
          <a:p>
            <a:pPr marL="571500" indent="-571500"/>
            <a:r>
              <a:rPr lang="en-US" dirty="0"/>
              <a:t>Better: escaped defect rate — bugs that reached production</a:t>
            </a:r>
          </a:p>
          <a:p>
            <a:pPr marL="571500" indent="-571500"/>
            <a:r>
              <a:rPr lang="en-US" dirty="0"/>
              <a:t>Mean time to detect a bad agent change</a:t>
            </a:r>
          </a:p>
          <a:p>
            <a:pPr marL="571500" indent="-571500"/>
            <a:r>
              <a:rPr lang="en-US" dirty="0"/>
              <a:t>Percentage of agent PRs failing at least one guardrail</a:t>
            </a:r>
          </a:p>
          <a:p>
            <a:pPr marL="571500" indent="-571500"/>
            <a:r>
              <a:rPr lang="en-US" dirty="0"/>
              <a:t>Revert rate on auto-merged changes</a:t>
            </a:r>
          </a:p>
          <a:p>
            <a:pPr marL="571500" indent="-571500"/>
            <a:r>
              <a:rPr lang="en-US" dirty="0"/>
              <a:t>Measure whether guardrails catch things, not whether they exist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LLM Skills as Building Blocks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116"/>
          </a:bodyPr>
          <a:lstStyle/>
          <a:p>
            <a:pPr marL="571500" indent="-571500"/>
            <a:r>
              <a:rPr lang="en-US" dirty="0"/>
              <a:t>A skill packages instructions, examples, and tools for one task</a:t>
            </a:r>
          </a:p>
          <a:p>
            <a:pPr marL="571500" indent="-571500"/>
            <a:r>
              <a:rPr lang="en-US" dirty="0"/>
              <a:t>Narrow skills outperform one giant do-everything prompt</a:t>
            </a:r>
          </a:p>
          <a:p>
            <a:pPr marL="571500" indent="-571500"/>
            <a:r>
              <a:rPr lang="en-US" dirty="0"/>
              <a:t>Contrast: a prompt is disposable; a fine-tune is opaque</a:t>
            </a:r>
          </a:p>
          <a:p>
            <a:pPr marL="571500" indent="-571500"/>
            <a:r>
              <a:rPr lang="en-US" dirty="0"/>
              <a:t>Skills hit the useful middle: durable, cheap to change</a:t>
            </a:r>
          </a:p>
          <a:p>
            <a:pPr marL="571500" indent="-571500"/>
            <a:r>
              <a:rPr lang="en-US" dirty="0"/>
              <a:t>Think: functions, but for reasoning and judgment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Anatomy of a Skill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4616" lnSpcReduction="20000"/>
          </a:bodyPr>
          <a:lstStyle/>
          <a:p>
            <a:pPr marL="571500" indent="-571500"/>
            <a:r>
              <a:rPr lang="en-US" dirty="0"/>
              <a:t>Description: when this skill should trigger</a:t>
            </a:r>
          </a:p>
          <a:p>
            <a:pPr marL="571500" indent="-571500"/>
            <a:r>
              <a:rPr lang="en-US" dirty="0"/>
              <a:t>Instructions: procedure, constraints, house conventions</a:t>
            </a:r>
          </a:p>
          <a:p>
            <a:pPr marL="571500" indent="-571500"/>
            <a:r>
              <a:rPr lang="en-US" dirty="0"/>
              <a:t>Examples: input/output pairs showing correct behavior</a:t>
            </a:r>
          </a:p>
          <a:p>
            <a:pPr marL="571500" indent="-571500"/>
            <a:r>
              <a:rPr lang="en-US" dirty="0"/>
              <a:t>Tools: what the skill may call or execute</a:t>
            </a:r>
          </a:p>
          <a:p>
            <a:pPr marL="571500" indent="-571500"/>
            <a:r>
              <a:rPr lang="en-US" dirty="0"/>
              <a:t>Scoped narrowly enough that correctness is checkable</a:t>
            </a:r>
          </a:p>
          <a:p>
            <a:pPr marL="571500" indent="-571500"/>
            <a:r>
              <a:rPr lang="en-US" dirty="0"/>
              <a:t>Reads like a runbook a new hire could follow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Skill Versioning and Reuse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0658" lnSpcReduction="10000"/>
          </a:bodyPr>
          <a:lstStyle/>
          <a:p>
            <a:pPr marL="571500" indent="-571500"/>
            <a:r>
              <a:rPr lang="en-US" dirty="0"/>
              <a:t>Skills live in version control, like application code</a:t>
            </a:r>
          </a:p>
          <a:p>
            <a:pPr marL="571500" indent="-571500"/>
            <a:r>
              <a:rPr lang="en-US" dirty="0"/>
              <a:t>A skill change gets reviewed like any other diff</a:t>
            </a:r>
          </a:p>
          <a:p>
            <a:pPr marL="571500" indent="-571500"/>
            <a:r>
              <a:rPr lang="en-US" dirty="0"/>
              <a:t>Reuse means consistent behavior across teams and projects</a:t>
            </a:r>
          </a:p>
          <a:p>
            <a:pPr marL="571500" indent="-571500"/>
            <a:r>
              <a:rPr lang="en-US" dirty="0"/>
              <a:t>Roll back a bad skill the way you’d roll back code</a:t>
            </a:r>
          </a:p>
          <a:p>
            <a:pPr marL="571500" indent="-571500"/>
            <a:r>
              <a:rPr lang="en-US" dirty="0"/>
              <a:t>Skill libraries become shared infrastructure, not personal notes</a:t>
            </a:r>
          </a:p>
          <a:p>
            <a:pPr marL="571500" indent="-571500"/>
            <a:r>
              <a:rPr lang="en-US" dirty="0"/>
              <a:t>Auditing which skill version ran is part of the trail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06AE0-C82F-CBE0-1C4F-1FE7B5B7AB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61792" y="4645145"/>
            <a:ext cx="9894354" cy="557791"/>
          </a:xfrm>
        </p:spPr>
        <p:txBody>
          <a:bodyPr>
            <a:normAutofit fontScale="92500"/>
          </a:bodyPr>
          <a:lstStyle/>
          <a:p>
            <a:r>
              <a:rPr lang="en-US" dirty="0"/>
              <a:t>Each handoff passes a specific artifact — task list, diff, results, sign-off.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BA588A-C7B5-ED3C-1C44-C76F7B26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Orchestration Flow</a:t>
            </a:r>
          </a:p>
        </p:txBody>
      </p:sp>
      <p:pic>
        <p:nvPicPr>
          <p:cNvPr id="7" name="Diagram" descr="A flowchart showing four roles in sequence — Planner, Executor, Tooler, Auditor — each edge labeled with the artifact handed off: task list, commits and diff, test and lint results. A feedback edge labeled &quot;reject: replan&quot; loops from Auditor back to Planner, and a &quot;sign-off&quot; edge goes from Auditor to a Merge nod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24" y="2919898"/>
            <a:ext cx="11512550" cy="127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89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Separate Roles at All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4284" lnSpcReduction="20000"/>
          </a:bodyPr>
          <a:lstStyle/>
          <a:p>
            <a:pPr marL="571500" indent="-571500"/>
            <a:r>
              <a:rPr lang="en-US" dirty="0"/>
              <a:t>One agent doing everything blurs the line between planning and execution</a:t>
            </a:r>
          </a:p>
          <a:p>
            <a:pPr marL="571500" indent="-571500"/>
            <a:r>
              <a:rPr lang="en-US" dirty="0"/>
              <a:t>Separation makes failures attributable to a specific stage</a:t>
            </a:r>
          </a:p>
          <a:p>
            <a:pPr marL="571500" indent="-571500"/>
            <a:r>
              <a:rPr lang="en-US" dirty="0"/>
              <a:t>Each role gets narrower permissions — least privilege by design</a:t>
            </a:r>
          </a:p>
          <a:p>
            <a:pPr marL="571500" indent="-571500"/>
            <a:r>
              <a:rPr lang="en-US" dirty="0"/>
              <a:t>A planner that can’t write code can’t fix its own bad plan</a:t>
            </a:r>
          </a:p>
          <a:p>
            <a:pPr marL="571500" indent="-571500"/>
            <a:r>
              <a:rPr lang="en-US" dirty="0"/>
              <a:t>Role boundaries are where guardrails and logging get inserted</a:t>
            </a:r>
          </a:p>
          <a:p>
            <a:pPr marL="571500" indent="-571500"/>
            <a:r>
              <a:rPr lang="en-US" dirty="0"/>
              <a:t>Mirrors separation of duties in any regulated workflow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Four Roles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8158" lnSpcReduction="10000"/>
          </a:bodyPr>
          <a:lstStyle/>
          <a:p>
            <a:pPr marL="571500" indent="-571500"/>
            <a:r>
              <a:rPr lang="en-US" b="1" dirty="0"/>
              <a:t>Planner</a:t>
            </a:r>
            <a:r>
              <a:rPr lang="en-US" dirty="0"/>
              <a:t>: breaks a goal into steps, outputs a task list</a:t>
            </a:r>
          </a:p>
          <a:p>
            <a:pPr lvl="1"/>
            <a:r>
              <a:rPr lang="en-US" dirty="0"/>
              <a:t>Never touches code directly</a:t>
            </a:r>
          </a:p>
          <a:p>
            <a:pPr marL="571500" indent="-571500"/>
            <a:r>
              <a:rPr lang="en-US" b="1" dirty="0"/>
              <a:t>Executor</a:t>
            </a:r>
            <a:r>
              <a:rPr lang="en-US" dirty="0"/>
              <a:t>: writes code in a scoped worktree, small commits</a:t>
            </a:r>
          </a:p>
          <a:p>
            <a:pPr lvl="1"/>
            <a:r>
              <a:rPr lang="en-US" dirty="0"/>
              <a:t>Job ends at “code exists,” not “code is safe”</a:t>
            </a:r>
          </a:p>
          <a:p>
            <a:pPr marL="571500" indent="-571500"/>
            <a:r>
              <a:rPr lang="en-US" b="1" dirty="0"/>
              <a:t>Tooler</a:t>
            </a:r>
            <a:r>
              <a:rPr lang="en-US" dirty="0"/>
              <a:t>: runs tests, linters, builds — bridges written to proven</a:t>
            </a:r>
          </a:p>
          <a:p>
            <a:pPr marL="571500" indent="-571500"/>
            <a:r>
              <a:rPr lang="en-US" b="1" dirty="0"/>
              <a:t>Auditor</a:t>
            </a:r>
            <a:r>
              <a:rPr lang="en-US" dirty="0"/>
              <a:t>: reviews the full trail for chained risk</a:t>
            </a:r>
          </a:p>
          <a:p>
            <a:pPr lvl="1"/>
            <a:r>
              <a:rPr lang="en-US" dirty="0"/>
              <a:t>No auditor sign-off, no merge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Handoff Failure Modes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116"/>
          </a:bodyPr>
          <a:lstStyle/>
          <a:p>
            <a:pPr marL="571500" indent="-571500"/>
            <a:r>
              <a:rPr lang="en-US" b="1" dirty="0"/>
              <a:t>Plan drift</a:t>
            </a:r>
            <a:r>
              <a:rPr lang="en-US" dirty="0"/>
              <a:t>: executor quietly solves a different problem</a:t>
            </a:r>
          </a:p>
          <a:p>
            <a:pPr marL="571500" indent="-571500"/>
            <a:r>
              <a:rPr lang="en-US" b="1" dirty="0"/>
              <a:t>Context loss</a:t>
            </a:r>
            <a:r>
              <a:rPr lang="en-US" dirty="0"/>
              <a:t>: the next role lacks the “why”</a:t>
            </a:r>
          </a:p>
          <a:p>
            <a:pPr marL="1257300" lvl="1" indent="-571500"/>
            <a:r>
              <a:rPr lang="en-US" dirty="0"/>
              <a:t>Silent tool failure reported upstream as success</a:t>
            </a:r>
          </a:p>
          <a:p>
            <a:pPr marL="1257300" lvl="1" indent="-571500"/>
            <a:r>
              <a:rPr lang="en-US" dirty="0"/>
              <a:t>Auditor rubber-stamps once everything technically passes</a:t>
            </a:r>
          </a:p>
          <a:p>
            <a:pPr marL="1257300" lvl="1" indent="-571500"/>
            <a:r>
              <a:rPr lang="en-US" dirty="0"/>
              <a:t>Infinite loop: reject, replan, nothing converges</a:t>
            </a:r>
          </a:p>
          <a:p>
            <a:pPr marL="571500" indent="-571500"/>
            <a:r>
              <a:rPr lang="en-US" b="1" dirty="0"/>
              <a:t>Fix</a:t>
            </a:r>
            <a:r>
              <a:rPr lang="en-US" dirty="0"/>
              <a:t>: structured handoffs, retry budgets, escalation to humans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Gastown: Orchestrating Agents at Scale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1784" lnSpcReduction="20000"/>
          </a:bodyPr>
          <a:lstStyle/>
          <a:p>
            <a:pPr marL="571500" indent="-571500"/>
            <a:r>
              <a:rPr lang="en-US" dirty="0"/>
              <a:t>Gastown: open-source workspace manager for coding agents</a:t>
            </a:r>
          </a:p>
          <a:p>
            <a:pPr lvl="1"/>
            <a:r>
              <a:rPr lang="en-US" i="1" dirty="0"/>
              <a:t>Built by Steve Yegge, </a:t>
            </a:r>
            <a:r>
              <a:rPr lang="en-US" i="1" dirty="0">
                <a:latin typeface="Consolas"/>
              </a:rPr>
              <a:t>gastownhall.ai</a:t>
            </a:r>
          </a:p>
          <a:p>
            <a:pPr marL="571500" indent="-571500"/>
            <a:r>
              <a:rPr lang="en-US" dirty="0"/>
              <a:t>Coordinates Claude Code, Codex, Copilot, Gemini</a:t>
            </a:r>
          </a:p>
          <a:p>
            <a:pPr marL="571500" indent="-571500"/>
            <a:r>
              <a:rPr lang="en-US" dirty="0"/>
              <a:t>Beads, its issue tracker, persists work state across restarts</a:t>
            </a:r>
          </a:p>
          <a:p>
            <a:pPr marL="571500" indent="-571500"/>
            <a:r>
              <a:rPr lang="en-US" dirty="0"/>
              <a:t>Routes finished work through a verification-gated merge queue</a:t>
            </a:r>
          </a:p>
          <a:p>
            <a:pPr marL="571500" indent="-571500"/>
            <a:r>
              <a:rPr lang="en-US" dirty="0"/>
              <a:t>Used by Fortune 100 teams, still needs heavy oversight</a:t>
            </a:r>
          </a:p>
          <a:p>
            <a:pPr marL="571500" indent="-571500"/>
            <a:r>
              <a:rPr lang="en-US" dirty="0"/>
              <a:t>Read it critically: this is the builder’s own description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06AE0-C82F-CBE0-1C4F-1FE7B5B7AB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3171" y="4379969"/>
            <a:ext cx="9894354" cy="557791"/>
          </a:xfrm>
        </p:spPr>
        <p:txBody>
          <a:bodyPr>
            <a:normAutofit/>
          </a:bodyPr>
          <a:lstStyle/>
          <a:p>
            <a:r>
              <a:rPr lang="en-US" dirty="0"/>
              <a:t>Most enterprise teams sit around stage 2-3 today.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BA588A-C7B5-ED3C-1C44-C76F7B26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Eight Stages of Agent Autonomy</a:t>
            </a:r>
          </a:p>
        </p:txBody>
      </p:sp>
      <p:pic>
        <p:nvPicPr>
          <p:cNvPr id="7" name="Diagram" descr="A flowchart banding eight stages of agent autonomy into three groups left to right: human-driven (stages 1-3, rectangles), human-in-the-loop (stage 4), and human-on-the-loop (stages 5-6 and 7-8, drawn as stadium shapes to signal they're ranges, not single stages)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24" y="2912556"/>
            <a:ext cx="11512550" cy="129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89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 Classes of Firms for Full Autonomy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3171" y="1278968"/>
            <a:ext cx="11511595" cy="4856656"/>
          </a:xfrm>
        </p:spPr>
        <p:txBody>
          <a:bodyPr>
            <a:normAutofit fontScale="73158" lnSpcReduction="20000"/>
          </a:bodyPr>
          <a:lstStyle/>
          <a:p>
            <a:pPr algn="ctr">
              <a:buNone/>
            </a:pPr>
            <a:r>
              <a:rPr lang="en-US" dirty="0"/>
              <a:t>Few firms can hand fully autonomous work to an LLM</a:t>
            </a:r>
          </a:p>
          <a:p>
            <a:pPr marL="742950" indent="-742950">
              <a:buFont typeface="+mj-lt"/>
              <a:buAutoNum type="arabicPeriod"/>
            </a:pPr>
            <a:r>
              <a:rPr lang="en-US" b="1" dirty="0"/>
              <a:t>Cheap failure</a:t>
            </a:r>
            <a:r>
              <a:rPr lang="en-US" dirty="0"/>
              <a:t>: intern-level work, rapid prototyping</a:t>
            </a:r>
          </a:p>
          <a:p>
            <a:pPr marL="742950" indent="-742950">
              <a:buFont typeface="+mj-lt"/>
              <a:buAutoNum type="arabicPeriod"/>
            </a:pPr>
            <a:r>
              <a:rPr lang="en-US" b="1" dirty="0"/>
              <a:t>Narrow and guardrailed</a:t>
            </a:r>
            <a:r>
              <a:rPr lang="en-US" dirty="0"/>
              <a:t>: controlled-cell labor, call-center chat</a:t>
            </a:r>
          </a:p>
          <a:p>
            <a:pPr marL="742950" indent="-742950">
              <a:buFont typeface="+mj-lt"/>
              <a:buAutoNum type="arabicPeriod"/>
            </a:pPr>
            <a:r>
              <a:rPr lang="en-US" b="1" dirty="0"/>
              <a:t>Rigor already required</a:t>
            </a:r>
            <a:r>
              <a:rPr lang="en-US" dirty="0"/>
              <a:t>: chip design, drug discovery</a:t>
            </a:r>
          </a:p>
          <a:p>
            <a:pPr marL="571500" indent="-571500"/>
            <a:endParaRPr lang="en-US" dirty="0"/>
          </a:p>
          <a:p>
            <a:pPr algn="ctr">
              <a:buNone/>
            </a:pPr>
            <a:r>
              <a:rPr lang="en-US" dirty="0"/>
              <a:t>These are classes of </a:t>
            </a:r>
            <a:r>
              <a:rPr lang="en-US" b="1" dirty="0"/>
              <a:t>work</a:t>
            </a:r>
            <a:r>
              <a:rPr lang="en-US" dirty="0"/>
              <a:t>, not classes of industry</a:t>
            </a:r>
          </a:p>
          <a:p>
            <a:pPr algn="ctr">
              <a:buNone/>
            </a:pPr>
            <a:r>
              <a:rPr lang="en-US" dirty="0"/>
              <a:t>A firm’s internal tools, product code, and core ledger can each sit in a different class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BA588A-C7B5-ED3C-1C44-C76F7B26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Mapping the Three Classes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002B61-F0D6-076E-AF37-F1649F6C38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59"/>
          <a:stretch>
            <a:fillRect/>
          </a:stretch>
        </p:blipFill>
        <p:spPr>
          <a:xfrm>
            <a:off x="2338622" y="1033271"/>
            <a:ext cx="5910964" cy="582472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5A0286-117F-186F-87FF-2468D797B0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389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Engineer’s Job: Shrink the Workspace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0658" lnSpcReduction="10000"/>
          </a:bodyPr>
          <a:lstStyle/>
          <a:p>
            <a:pPr marL="571500" indent="-571500"/>
            <a:r>
              <a:rPr lang="en-US" dirty="0"/>
              <a:t>Our job: reshape the task to fit one of three shapes</a:t>
            </a:r>
          </a:p>
          <a:p>
            <a:pPr marL="571500" indent="-571500"/>
            <a:r>
              <a:rPr lang="en-US" dirty="0"/>
              <a:t>Cheap failure: sandbox it, make retries free</a:t>
            </a:r>
          </a:p>
          <a:p>
            <a:pPr marL="571500" indent="-571500"/>
            <a:r>
              <a:rPr lang="en-US" dirty="0"/>
              <a:t>Narrow and guardrailed: scope down, build the guardrail first</a:t>
            </a:r>
          </a:p>
          <a:p>
            <a:pPr marL="571500" indent="-571500"/>
            <a:r>
              <a:rPr lang="en-US" dirty="0"/>
              <a:t>Rigor required: write the spec, make validation cheap</a:t>
            </a:r>
          </a:p>
          <a:p>
            <a:pPr marL="571500" indent="-571500"/>
            <a:r>
              <a:rPr lang="en-US" dirty="0"/>
              <a:t>This is workspace engineering, not prompt engineering</a:t>
            </a:r>
          </a:p>
          <a:p>
            <a:pPr marL="571500" indent="-571500"/>
            <a:r>
              <a:rPr lang="en-US" dirty="0"/>
              <a:t>Can’t shrink it yet? Don’t autonomize it yet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Where Most Teams Actually Sit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4754" lnSpcReduction="20000"/>
          </a:bodyPr>
          <a:lstStyle/>
          <a:p>
            <a:pPr marL="571500" indent="-571500"/>
            <a:r>
              <a:rPr lang="en-US" dirty="0"/>
              <a:t>91% of enterprises deploy agents in some form</a:t>
            </a:r>
          </a:p>
          <a:p>
            <a:pPr lvl="1"/>
            <a:r>
              <a:rPr lang="en-US" dirty="0"/>
              <a:t>Only 42% trust agents to lead work (Anthropic, 2026)</a:t>
            </a:r>
          </a:p>
          <a:p>
            <a:pPr marL="571500" indent="-571500"/>
            <a:r>
              <a:rPr lang="en-US" dirty="0"/>
              <a:t>“Deploy” is a low bar — not the same as production</a:t>
            </a:r>
          </a:p>
          <a:p>
            <a:pPr marL="571500" indent="-571500"/>
            <a:r>
              <a:rPr lang="en-US" dirty="0"/>
              <a:t>The gap between deployed and trusted is the real story</a:t>
            </a:r>
          </a:p>
          <a:p>
            <a:pPr marL="571500" indent="-571500"/>
            <a:r>
              <a:rPr lang="en-US" dirty="0"/>
              <a:t>Regulated industries cluster low deliberately — but not always</a:t>
            </a:r>
          </a:p>
          <a:p>
            <a:pPr lvl="1"/>
            <a:r>
              <a:rPr lang="en-US" dirty="0"/>
              <a:t>Goldman Sachs, JPMorgan run agentic coding at scale</a:t>
            </a:r>
          </a:p>
          <a:p>
            <a:pPr marL="571500" indent="-571500"/>
            <a:r>
              <a:rPr lang="en-US" dirty="0"/>
              <a:t>The differentiator is governance, not model access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Auditing and Observability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4616" lnSpcReduction="20000"/>
          </a:bodyPr>
          <a:lstStyle/>
          <a:p>
            <a:pPr marL="571500" indent="-571500"/>
            <a:r>
              <a:rPr lang="en-US" dirty="0"/>
              <a:t>Every AI action gets logged: prompt, tool call, result</a:t>
            </a:r>
          </a:p>
          <a:p>
            <a:pPr marL="571500" indent="-571500"/>
            <a:r>
              <a:rPr lang="en-US" dirty="0"/>
              <a:t>Structured JSON, not free text, so it can replay</a:t>
            </a:r>
          </a:p>
          <a:p>
            <a:pPr marL="571500" indent="-571500"/>
            <a:r>
              <a:rPr lang="en-US" dirty="0"/>
              <a:t>Audit trails answer who changed what, when, under which version</a:t>
            </a:r>
          </a:p>
          <a:p>
            <a:pPr marL="571500" indent="-571500"/>
            <a:r>
              <a:rPr lang="en-US" dirty="0"/>
              <a:t>Auditors compare output against guardrail results, not just diffs</a:t>
            </a:r>
          </a:p>
          <a:p>
            <a:pPr marL="571500" indent="-571500"/>
            <a:r>
              <a:rPr lang="en-US" dirty="0"/>
              <a:t>Retention windows matter: fintech audits often span years</a:t>
            </a:r>
          </a:p>
          <a:p>
            <a:pPr marL="571500" indent="-571500"/>
            <a:r>
              <a:rPr lang="en-US" dirty="0"/>
              <a:t>Can’t reconstruct a decision? Can’t audit it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Replay and Root Cause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1703" lnSpcReduction="10000"/>
          </a:bodyPr>
          <a:lstStyle/>
          <a:p>
            <a:pPr marL="571500" indent="-571500"/>
            <a:r>
              <a:rPr lang="en-US" dirty="0"/>
              <a:t>Replay reruns the exact sequence behind a change</a:t>
            </a:r>
          </a:p>
          <a:p>
            <a:pPr marL="571500" indent="-571500"/>
            <a:r>
              <a:rPr lang="en-US" dirty="0"/>
              <a:t>Nondeterminism makes exact replay hard</a:t>
            </a:r>
          </a:p>
          <a:p>
            <a:pPr marL="571500" indent="-571500"/>
            <a:r>
              <a:rPr lang="en-US" dirty="0"/>
              <a:t>Log inputs, not just outputs</a:t>
            </a:r>
          </a:p>
          <a:p>
            <a:pPr marL="571500" indent="-571500"/>
            <a:r>
              <a:rPr lang="en-US" dirty="0"/>
              <a:t>Pin model and skill versions for meaningful replay</a:t>
            </a:r>
          </a:p>
          <a:p>
            <a:pPr marL="571500" indent="-571500"/>
            <a:r>
              <a:rPr lang="en-US" dirty="0"/>
              <a:t>Root cause usually lives in the plan</a:t>
            </a:r>
          </a:p>
          <a:p>
            <a:pPr marL="571500" indent="-571500"/>
            <a:r>
              <a:rPr lang="en-US" dirty="0"/>
              <a:t>Without replay, postmortems become speculation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Fintech: Regulatory Audit Requirements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0658" lnSpcReduction="10000"/>
          </a:bodyPr>
          <a:lstStyle/>
          <a:p>
            <a:pPr marL="571500" indent="-571500"/>
            <a:r>
              <a:rPr lang="en-US" dirty="0"/>
              <a:t>Regulated industries need more auditability as autonomy rises</a:t>
            </a:r>
          </a:p>
          <a:p>
            <a:pPr marL="571500" indent="-571500"/>
            <a:r>
              <a:rPr lang="en-US" dirty="0"/>
              <a:t>Change management standards assume a named human approver</a:t>
            </a:r>
          </a:p>
          <a:p>
            <a:pPr marL="571500" indent="-571500"/>
            <a:r>
              <a:rPr lang="en-US" dirty="0"/>
              <a:t>“</a:t>
            </a:r>
            <a:r>
              <a:rPr lang="en-US" i="1" dirty="0"/>
              <a:t>The agent decided</a:t>
            </a:r>
            <a:r>
              <a:rPr lang="en-US" dirty="0"/>
              <a:t>” is not an accepted control narrative</a:t>
            </a:r>
          </a:p>
          <a:p>
            <a:pPr marL="571500" indent="-571500"/>
            <a:r>
              <a:rPr lang="en-US" dirty="0"/>
              <a:t>Model and skill versions join the compliance record</a:t>
            </a:r>
          </a:p>
          <a:p>
            <a:pPr marL="571500" indent="-571500"/>
            <a:r>
              <a:rPr lang="en-US" dirty="0"/>
              <a:t>Auditors will ask who authorized the agent’s scope</a:t>
            </a:r>
          </a:p>
          <a:p>
            <a:pPr marL="571500" indent="-571500"/>
            <a:r>
              <a:rPr lang="en-US" dirty="0"/>
              <a:t>Build the audit trail before the regulator asks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06AE0-C82F-CBE0-1C4F-1FE7B5B7AB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61792" y="4599425"/>
            <a:ext cx="9894354" cy="557791"/>
          </a:xfrm>
        </p:spPr>
        <p:txBody>
          <a:bodyPr>
            <a:normAutofit fontScale="92500"/>
          </a:bodyPr>
          <a:lstStyle/>
          <a:p>
            <a:r>
              <a:rPr lang="en-US" dirty="0"/>
              <a:t>No single guardrail catches this — only review of the full chain does.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BA588A-C7B5-ED3C-1C44-C76F7B26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Security: How a Chain Actually Works</a:t>
            </a:r>
          </a:p>
        </p:txBody>
      </p:sp>
      <p:pic>
        <p:nvPicPr>
          <p:cNvPr id="7" name="Diagram" descr="A flowchart showing a trust boundary around the agent's context. A low-severity CVE in a transitive dependency exposes an endpoint; its response is pulled into context; hidden text in that response is a prompt injection that directs the agent toward a second CVE, an auth-bypass in another dependency. A dashed line connects the two CVEs, labeled &quot;neither alone exploitable.&quot; Combined, they lead to full exfiltration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53" y="2770632"/>
            <a:ext cx="11944294" cy="153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899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Security: CVE Chaining Risks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3171" y="1278968"/>
            <a:ext cx="11838829" cy="4404656"/>
          </a:xfrm>
        </p:spPr>
        <p:txBody>
          <a:bodyPr>
            <a:normAutofit fontScale="80658" lnSpcReduction="10000"/>
          </a:bodyPr>
          <a:lstStyle/>
          <a:p>
            <a:pPr marL="571500" indent="-571500"/>
            <a:r>
              <a:rPr lang="en-US" dirty="0"/>
              <a:t>Agents chain low-severity issues into high-impact exploits</a:t>
            </a:r>
          </a:p>
          <a:p>
            <a:pPr marL="571500" indent="-571500"/>
            <a:r>
              <a:rPr lang="en-US" dirty="0"/>
              <a:t>Not new to AI — but agents chain fast, autonomously</a:t>
            </a:r>
          </a:p>
          <a:p>
            <a:pPr marL="571500" indent="-571500"/>
            <a:r>
              <a:rPr lang="en-US" dirty="0"/>
              <a:t>XBOW: 48-step blind-SSRF chain to full compromise, 2025</a:t>
            </a:r>
          </a:p>
          <a:p>
            <a:pPr marL="571500" indent="-571500"/>
            <a:r>
              <a:rPr lang="en-US" dirty="0"/>
              <a:t>JADEPUFFER chained a Langflow code-injection flaw (</a:t>
            </a:r>
            <a:r>
              <a:rPr lang="en-US" dirty="0">
                <a:latin typeface="Consolas"/>
              </a:rPr>
              <a:t>CVE-2025-3248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Sysdig writeup — autonomous ransomware and extortion, not just theft</a:t>
            </a:r>
          </a:p>
          <a:p>
            <a:pPr marL="571500" indent="-571500"/>
            <a:r>
              <a:rPr lang="en-US" dirty="0"/>
              <a:t>Guardrails must catch chains, not just single CVEs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Agent Attack Surface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3171" y="1278968"/>
            <a:ext cx="11838829" cy="4404656"/>
          </a:xfrm>
        </p:spPr>
        <p:txBody>
          <a:bodyPr>
            <a:normAutofit fontScale="95658" lnSpcReduction="10000"/>
          </a:bodyPr>
          <a:lstStyle/>
          <a:p>
            <a:pPr marL="571500" indent="-571500"/>
            <a:r>
              <a:rPr lang="en-US" b="1" dirty="0"/>
              <a:t>Prompt injection</a:t>
            </a:r>
            <a:r>
              <a:rPr lang="en-US" dirty="0"/>
              <a:t>: hostile text in a file or web page</a:t>
            </a:r>
          </a:p>
          <a:p>
            <a:pPr marL="1257300" lvl="1" indent="-571500"/>
            <a:r>
              <a:rPr lang="en-US" dirty="0"/>
              <a:t>The agent can’t reliably tell instruction from data</a:t>
            </a:r>
            <a:endParaRPr lang="en-US" b="1" dirty="0"/>
          </a:p>
          <a:p>
            <a:pPr marL="571500" indent="-571500"/>
            <a:r>
              <a:rPr lang="en-US" b="1" dirty="0"/>
              <a:t>Supply chain</a:t>
            </a:r>
            <a:r>
              <a:rPr lang="en-US" dirty="0"/>
              <a:t>: a poisoned dependency installed without asking</a:t>
            </a:r>
          </a:p>
          <a:p>
            <a:pPr marL="1257300" lvl="1" indent="-571500"/>
            <a:r>
              <a:rPr lang="en-US" dirty="0"/>
              <a:t>Tool access turns injection into code execution</a:t>
            </a:r>
          </a:p>
          <a:p>
            <a:pPr marL="1257300" lvl="1" indent="-571500"/>
            <a:r>
              <a:rPr lang="en-US" dirty="0"/>
              <a:t>Agents with repo write access are a privileged target</a:t>
            </a:r>
          </a:p>
          <a:p>
            <a:pPr algn="ctr">
              <a:buNone/>
            </a:pPr>
            <a:endParaRPr lang="en-US" dirty="0"/>
          </a:p>
          <a:p>
            <a:pPr algn="ctr">
              <a:buNone/>
            </a:pPr>
            <a:r>
              <a:rPr lang="en-US" dirty="0"/>
              <a:t>Treat everything an agent reads as untrusted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Agents Go Wrong: Real Incidents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3171" y="1278968"/>
            <a:ext cx="11838829" cy="4404656"/>
          </a:xfrm>
        </p:spPr>
        <p:txBody>
          <a:bodyPr>
            <a:normAutofit fontScale="97342"/>
          </a:bodyPr>
          <a:lstStyle/>
          <a:p>
            <a:pPr marL="571500" indent="-571500"/>
            <a:r>
              <a:rPr lang="en-US" dirty="0"/>
              <a:t>Replit, 2025: an agent deleted a live database during a freeze</a:t>
            </a:r>
          </a:p>
          <a:p>
            <a:pPr marL="571500" indent="-571500"/>
            <a:r>
              <a:rPr lang="en-US" dirty="0"/>
              <a:t>The agent admitted running unauthorized commands</a:t>
            </a:r>
          </a:p>
          <a:p>
            <a:pPr marL="571500" indent="-571500"/>
            <a:r>
              <a:rPr lang="en-US" dirty="0"/>
              <a:t>What went wrong: too much permission, too soon</a:t>
            </a:r>
          </a:p>
          <a:p>
            <a:pPr marL="571500" indent="-571500"/>
            <a:r>
              <a:rPr lang="en-US" dirty="0"/>
              <a:t>Progressive autonomy: earn scope, don’t grant it upfront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Permission Scoping and Progressive Autonomy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0658" lnSpcReduction="10000"/>
          </a:bodyPr>
          <a:lstStyle/>
          <a:p>
            <a:pPr marL="571500" indent="-571500"/>
            <a:r>
              <a:rPr lang="en-US" dirty="0"/>
              <a:t>Start read-only; grant write access per-directory, not globally</a:t>
            </a:r>
          </a:p>
          <a:p>
            <a:pPr marL="571500" indent="-571500"/>
            <a:r>
              <a:rPr lang="en-US" dirty="0"/>
              <a:t>No production credentials in an agent’s environment, ever</a:t>
            </a:r>
          </a:p>
          <a:p>
            <a:pPr marL="571500" indent="-571500"/>
            <a:r>
              <a:rPr lang="en-US" dirty="0"/>
              <a:t>Destructive operations always require human confirmation</a:t>
            </a:r>
          </a:p>
          <a:p>
            <a:pPr marL="571500" indent="-571500"/>
            <a:r>
              <a:rPr lang="en-US" dirty="0"/>
              <a:t>Expand scope on track record, not optimism</a:t>
            </a:r>
          </a:p>
          <a:p>
            <a:pPr marL="571500" indent="-571500"/>
            <a:r>
              <a:rPr lang="en-US" dirty="0"/>
              <a:t>Separate agent identities so logs attribute actions correctly</a:t>
            </a:r>
          </a:p>
          <a:p>
            <a:pPr marL="571500" indent="-571500"/>
            <a:r>
              <a:rPr lang="en-US" dirty="0"/>
              <a:t>The blast radius you allow is the one you’ll get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Secrets and Credential Handling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9294"/>
          </a:bodyPr>
          <a:lstStyle/>
          <a:p>
            <a:pPr marL="571500" indent="-571500"/>
            <a:r>
              <a:rPr lang="en-US" dirty="0"/>
              <a:t>Agents log prompts and outputs — secrets end up there too</a:t>
            </a:r>
          </a:p>
          <a:p>
            <a:pPr marL="571500" indent="-571500"/>
            <a:r>
              <a:rPr lang="en-US" dirty="0"/>
              <a:t>Never paste credentials into an agent’s working context</a:t>
            </a:r>
          </a:p>
          <a:p>
            <a:pPr marL="571500" indent="-571500"/>
            <a:r>
              <a:rPr lang="en-US" dirty="0"/>
              <a:t>Use short-lived, scoped tokens instead of long-lived keys</a:t>
            </a:r>
          </a:p>
          <a:p>
            <a:pPr marL="571500" indent="-571500"/>
            <a:r>
              <a:rPr lang="en-US" dirty="0"/>
              <a:t>Secret scanning in CI catches accidental commits</a:t>
            </a:r>
          </a:p>
          <a:p>
            <a:pPr marL="571500" indent="-571500"/>
            <a:r>
              <a:rPr lang="en-US" dirty="0"/>
              <a:t>Rotate anything an agent has ever seen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 Churn and Review Fatigue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9294"/>
          </a:bodyPr>
          <a:lstStyle/>
          <a:p>
            <a:pPr marL="571500" indent="-571500"/>
            <a:r>
              <a:rPr lang="en-US" dirty="0"/>
              <a:t>More AI PRs strain GitHub’s own UI and APIs</a:t>
            </a:r>
          </a:p>
          <a:p>
            <a:pPr marL="571500" indent="-571500"/>
            <a:r>
              <a:rPr lang="en-US" dirty="0"/>
              <a:t>Constant review requests cause real reviewer fatigue</a:t>
            </a:r>
          </a:p>
          <a:p>
            <a:pPr marL="571500" indent="-571500"/>
            <a:r>
              <a:rPr lang="en-US" dirty="0"/>
              <a:t>Fatigue leads to rubber-stamping, not real review</a:t>
            </a:r>
          </a:p>
          <a:p>
            <a:pPr marL="571500" indent="-571500"/>
            <a:r>
              <a:rPr lang="en-US" dirty="0"/>
              <a:t>Batching and smaller PRs ease machine and human load</a:t>
            </a:r>
          </a:p>
          <a:p>
            <a:pPr marL="571500" indent="-571500"/>
            <a:r>
              <a:rPr lang="en-US" dirty="0"/>
              <a:t>Review capacity, not code generation, becomes the bottleneck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 Triage: What Humans Should See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4616" lnSpcReduction="10000"/>
          </a:bodyPr>
          <a:lstStyle/>
          <a:p>
            <a:pPr marL="571500" indent="-571500"/>
            <a:r>
              <a:rPr lang="en-US" dirty="0"/>
              <a:t>Not every agent PR deserves equal attention</a:t>
            </a:r>
          </a:p>
          <a:p>
            <a:pPr marL="571500" indent="-571500"/>
            <a:r>
              <a:rPr lang="en-US" dirty="0"/>
              <a:t>Auto-merge: dependency bumps, formatting, generated code</a:t>
            </a:r>
          </a:p>
          <a:p>
            <a:pPr marL="571500" indent="-571500"/>
            <a:r>
              <a:rPr lang="en-US" dirty="0"/>
              <a:t>Always review deeply: auth, payments, migrations, public interfaces</a:t>
            </a:r>
          </a:p>
          <a:p>
            <a:pPr marL="571500" indent="-571500"/>
            <a:r>
              <a:rPr lang="en-US" dirty="0"/>
              <a:t>Let the auditor rank PRs by risk, not arrival order</a:t>
            </a:r>
          </a:p>
          <a:p>
            <a:pPr marL="571500" indent="-571500"/>
            <a:r>
              <a:rPr lang="en-US" dirty="0"/>
              <a:t>Triage, not more reviewers, makes review sustainable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06AE0-C82F-CBE0-1C4F-1FE7B5B7AB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3171" y="6235812"/>
            <a:ext cx="9894354" cy="557791"/>
          </a:xfrm>
        </p:spPr>
        <p:txBody>
          <a:bodyPr>
            <a:normAutofit/>
          </a:bodyPr>
          <a:lstStyle/>
          <a:p>
            <a:r>
              <a:rPr lang="en-US" dirty="0"/>
              <a:t>Humans review the risky 10%, deeply, instead of 100% shallowly.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BA588A-C7B5-ED3C-1C44-C76F7B26D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Routing Reviews by Risk</a:t>
            </a:r>
          </a:p>
        </p:txBody>
      </p:sp>
      <p:pic>
        <p:nvPicPr>
          <p:cNvPr id="7" name="Diagram" descr="A decision tree. An agent PR feeds into a risk classification diamond, which routes low-risk changes like dependency bumps, formatting, and generated code updates to auto-merge, and high-risk changes like auth, payments, migrations, and public interfaces to deep human review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258" y="1010957"/>
            <a:ext cx="4700179" cy="50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899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Review Culture Looks Like From Outside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254" lnSpcReduction="20000"/>
          </a:bodyPr>
          <a:lstStyle/>
          <a:p>
            <a:pPr marL="571500" indent="-571500"/>
            <a:r>
              <a:rPr lang="en-US" dirty="0"/>
              <a:t>Reviewing agent output all day is genuinely draining</a:t>
            </a:r>
          </a:p>
          <a:p>
            <a:pPr marL="571500" indent="-571500"/>
            <a:r>
              <a:rPr lang="en-US" dirty="0"/>
              <a:t>High-vigilance, low-authorship — the worst combination</a:t>
            </a:r>
          </a:p>
          <a:p>
            <a:pPr marL="571500" indent="-571500"/>
            <a:r>
              <a:rPr lang="en-US" dirty="0"/>
              <a:t>A bad team makes you feel like QA for a machine</a:t>
            </a:r>
          </a:p>
          <a:p>
            <a:pPr lvl="1"/>
            <a:r>
              <a:rPr lang="en-US" dirty="0"/>
              <a:t>Worth asking about in an interview</a:t>
            </a:r>
          </a:p>
          <a:p>
            <a:pPr marL="571500" indent="-571500"/>
            <a:r>
              <a:rPr lang="en-US" dirty="0"/>
              <a:t>Burnout shows up as rubber-stamping before it shows in surveys</a:t>
            </a:r>
          </a:p>
          <a:p>
            <a:pPr marL="571500" indent="-571500"/>
            <a:r>
              <a:rPr lang="en-US" dirty="0"/>
              <a:t>A healthy team protects authorship time</a:t>
            </a:r>
          </a:p>
          <a:p>
            <a:pPr marL="571500" indent="-571500"/>
            <a:r>
              <a:rPr lang="en-US" dirty="0"/>
              <a:t>Team health is a guardrail too — it degrades quietly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Context Management Discipline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7441" lnSpcReduction="20000"/>
          </a:bodyPr>
          <a:lstStyle/>
          <a:p>
            <a:pPr marL="571500" indent="-571500"/>
            <a:r>
              <a:rPr lang="en-US" dirty="0"/>
              <a:t>Long sessions accumulate stale, irrelevant context</a:t>
            </a:r>
          </a:p>
          <a:p>
            <a:pPr marL="571500" indent="-571500"/>
            <a:r>
              <a:rPr lang="en-US" dirty="0"/>
              <a:t>Treat context like a stack: push, use, pop</a:t>
            </a:r>
          </a:p>
          <a:p>
            <a:pPr marL="571500" indent="-571500"/>
            <a:r>
              <a:rPr lang="en-US" dirty="0"/>
              <a:t>Stale context causes drift from original intent</a:t>
            </a:r>
          </a:p>
          <a:p>
            <a:pPr marL="571500" indent="-571500"/>
            <a:r>
              <a:rPr lang="en-US" dirty="0"/>
              <a:t>Every token in context is paid for, every turn</a:t>
            </a:r>
          </a:p>
          <a:p>
            <a:pPr marL="571500" indent="-571500"/>
            <a:r>
              <a:rPr lang="en-US" dirty="0"/>
              <a:t>Clearing context cuts spend and improves quality at once</a:t>
            </a:r>
          </a:p>
          <a:p>
            <a:pPr marL="571500" indent="-571500"/>
            <a:r>
              <a:rPr lang="en-US" dirty="0"/>
              <a:t>Simple habit, outsized effect on output quality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Worktrees and Subagents in Practice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4754" lnSpcReduction="20000"/>
          </a:bodyPr>
          <a:lstStyle/>
          <a:p>
            <a:pPr marL="571500" indent="-571500"/>
            <a:r>
              <a:rPr lang="en-US" dirty="0"/>
              <a:t>Git worktrees check out multiple branches in parallel</a:t>
            </a:r>
          </a:p>
          <a:p>
            <a:pPr marL="571500" indent="-571500"/>
            <a:r>
              <a:rPr lang="en-US" dirty="0"/>
              <a:t>Subagents work in their own worktree, merge back when done</a:t>
            </a:r>
          </a:p>
          <a:p>
            <a:pPr marL="571500" indent="-571500"/>
            <a:r>
              <a:rPr lang="en-US" dirty="0"/>
              <a:t>One worktree per task, torn down when it merges</a:t>
            </a:r>
          </a:p>
          <a:p>
            <a:pPr marL="571500" indent="-571500"/>
            <a:r>
              <a:rPr lang="en-US" dirty="0"/>
              <a:t>Shared build caches save time — watch for config drift</a:t>
            </a:r>
          </a:p>
          <a:p>
            <a:pPr marL="571500" indent="-571500"/>
            <a:r>
              <a:rPr lang="en-US" dirty="0"/>
              <a:t>Automate cleanup — nobody does it manually past week two</a:t>
            </a:r>
          </a:p>
          <a:p>
            <a:pPr marL="571500" indent="-571500"/>
            <a:r>
              <a:rPr lang="en-US" dirty="0"/>
              <a:t>Trunk-based isolation limits the blast radius of a bad run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Practical Habits: Commit Often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6794" lnSpcReduction="10000"/>
          </a:bodyPr>
          <a:lstStyle/>
          <a:p>
            <a:pPr marL="571500" indent="-571500"/>
            <a:r>
              <a:rPr lang="en-US" dirty="0"/>
              <a:t>Small, frequent commits make agent work easy to review</a:t>
            </a:r>
          </a:p>
          <a:p>
            <a:pPr marL="571500" indent="-571500"/>
            <a:r>
              <a:rPr lang="en-US" dirty="0"/>
              <a:t>Each commit is a checkpoint to revert to</a:t>
            </a:r>
          </a:p>
          <a:p>
            <a:pPr marL="571500" indent="-571500"/>
            <a:r>
              <a:rPr lang="en-US" dirty="0"/>
              <a:t>Frequent commits shrink the diff a reviewer holds in mind</a:t>
            </a:r>
          </a:p>
          <a:p>
            <a:pPr marL="571500" indent="-571500"/>
            <a:r>
              <a:rPr lang="en-US" dirty="0"/>
              <a:t>Commit messages become the audit trail for intent</a:t>
            </a:r>
          </a:p>
          <a:p>
            <a:pPr marL="571500" indent="-571500"/>
            <a:r>
              <a:rPr lang="en-US" dirty="0"/>
              <a:t>Pairs naturally with worktrees: commit per subagent step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Enterprise Adoption: Pilots vs. Production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254" lnSpcReduction="10000"/>
          </a:bodyPr>
          <a:lstStyle/>
          <a:p>
            <a:pPr marL="571500" indent="-571500"/>
            <a:r>
              <a:rPr lang="en-US" dirty="0"/>
              <a:t>88% of agent pilots never reach production (Northflank)</a:t>
            </a:r>
          </a:p>
          <a:p>
            <a:pPr lvl="1"/>
            <a:r>
              <a:rPr lang="en-US" dirty="0"/>
              <a:t>MIT’s “GenAI Divide” work puts failure even higher</a:t>
            </a:r>
          </a:p>
          <a:p>
            <a:pPr marL="571500" indent="-571500"/>
            <a:r>
              <a:rPr lang="en-US" dirty="0"/>
              <a:t>Gartner expects 40%+ of agentic projects canceled by 2027</a:t>
            </a:r>
          </a:p>
          <a:p>
            <a:pPr marL="571500" indent="-571500"/>
            <a:r>
              <a:rPr lang="en-US" dirty="0"/>
              <a:t>The blocker is deployment infrastructure, rarely the model</a:t>
            </a:r>
          </a:p>
          <a:p>
            <a:pPr marL="571500" indent="-571500"/>
            <a:r>
              <a:rPr lang="en-US" dirty="0"/>
              <a:t>Security review of agent permissions takes months, not days</a:t>
            </a:r>
          </a:p>
          <a:p>
            <a:pPr marL="571500" indent="-571500"/>
            <a:r>
              <a:rPr lang="en-US" dirty="0"/>
              <a:t>A working demo and a production system are different projects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Economics: Token Costs and the Enterprise Bill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1784" lnSpcReduction="10000"/>
          </a:bodyPr>
          <a:lstStyle/>
          <a:p>
            <a:pPr marL="571500" indent="-571500"/>
            <a:r>
              <a:rPr lang="en-US" dirty="0"/>
              <a:t>Inference cost dropped roughly 280x, late 2022 to late 2024</a:t>
            </a:r>
          </a:p>
          <a:p>
            <a:pPr lvl="1"/>
            <a:r>
              <a:rPr lang="en-US" dirty="0"/>
              <a:t>Stanford AI Index / a16z; a specific drop, not a universal trend</a:t>
            </a:r>
          </a:p>
          <a:p>
            <a:pPr marL="571500" indent="-571500"/>
            <a:r>
              <a:rPr lang="en-US" dirty="0"/>
              <a:t>Enterprise AI dev tool spend: low tens of billions, climbing</a:t>
            </a:r>
          </a:p>
          <a:p>
            <a:pPr marL="571500" indent="-571500"/>
            <a:r>
              <a:rPr lang="en-US" dirty="0"/>
              <a:t>Usage-based bills: reportedly $500-$2,000 per engineer per month</a:t>
            </a:r>
          </a:p>
          <a:p>
            <a:pPr marL="571500" indent="-571500"/>
            <a:r>
              <a:rPr lang="en-US" dirty="0"/>
              <a:t>Heaviest users generate the largest bills — often your best engineers</a:t>
            </a:r>
          </a:p>
          <a:p>
            <a:pPr marL="571500" indent="-571500"/>
            <a:r>
              <a:rPr lang="en-US" dirty="0"/>
              <a:t>Cost governance is now an engineering management problem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Economics: Layoffs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6794"/>
          </a:bodyPr>
          <a:lstStyle/>
          <a:p>
            <a:pPr marL="571500" indent="-571500"/>
            <a:r>
              <a:rPr lang="en-US" dirty="0"/>
              <a:t>2026 tech layoffs have topped 150,000 (Layoffs.fyi)</a:t>
            </a:r>
          </a:p>
          <a:p>
            <a:pPr marL="571500" indent="-571500"/>
            <a:r>
              <a:rPr lang="en-US" dirty="0"/>
              <a:t>~32% of managers refilled roles they cut after adopting AI</a:t>
            </a:r>
          </a:p>
          <a:p>
            <a:pPr marL="571500" indent="-571500"/>
            <a:r>
              <a:rPr lang="en-US" dirty="0"/>
              <a:t>Correlation is obvious; causation is genuinely murky</a:t>
            </a:r>
          </a:p>
          <a:p>
            <a:pPr marL="571500" indent="-571500"/>
            <a:r>
              <a:rPr lang="en-US" dirty="0"/>
              <a:t>My read: some cuts fund the AI bill, not just efficiency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 AI Actually Replacing Developers?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4616" lnSpcReduction="20000"/>
          </a:bodyPr>
          <a:lstStyle/>
          <a:p>
            <a:pPr marL="571500" indent="-571500"/>
            <a:r>
              <a:rPr lang="en-US" dirty="0"/>
              <a:t>Oxford Economics (2024): firms aren’t replacing workers at scale</a:t>
            </a:r>
          </a:p>
          <a:p>
            <a:pPr marL="571500" indent="-571500"/>
            <a:r>
              <a:rPr lang="en-US" dirty="0"/>
              <a:t>Junior developer hiring has contracted the most</a:t>
            </a:r>
          </a:p>
          <a:p>
            <a:pPr marL="571500" indent="-571500"/>
            <a:r>
              <a:rPr lang="en-US" dirty="0"/>
              <a:t>Some layoffs get framed as AI without measurable AI cause</a:t>
            </a:r>
          </a:p>
          <a:p>
            <a:pPr marL="571500" indent="-571500"/>
            <a:r>
              <a:rPr lang="en-US" dirty="0"/>
              <a:t>Adoption varies widely across firms</a:t>
            </a:r>
          </a:p>
          <a:p>
            <a:pPr marL="571500" indent="-571500"/>
            <a:r>
              <a:rPr lang="en-US" dirty="0"/>
              <a:t>Personal note: my company hasn’t cut developers; others have</a:t>
            </a:r>
          </a:p>
          <a:p>
            <a:pPr marL="571500" indent="-571500"/>
            <a:r>
              <a:rPr lang="en-US" dirty="0"/>
              <a:t>The honest answer: it depends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 Agents Actually Make You Faster?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9203" lnSpcReduction="5398"/>
          </a:bodyPr>
          <a:lstStyle/>
          <a:p>
            <a:pPr marL="571500" indent="-571500"/>
            <a:r>
              <a:rPr lang="en-US" dirty="0"/>
              <a:t>METR ran an RCT with experienced developers, 2025</a:t>
            </a:r>
          </a:p>
          <a:p>
            <a:pPr marL="571500" indent="-571500"/>
            <a:r>
              <a:rPr lang="en-US" dirty="0"/>
              <a:t>Developers using AI tools were about 19% slower</a:t>
            </a:r>
          </a:p>
          <a:p>
            <a:pPr lvl="1"/>
            <a:r>
              <a:rPr lang="en-US" dirty="0"/>
              <a:t>While believing they were 20% faster</a:t>
            </a:r>
          </a:p>
          <a:p>
            <a:pPr marL="571500" indent="-571500"/>
            <a:r>
              <a:rPr lang="en-US" dirty="0"/>
              <a:t>Felt speed and measured speed diverge sharply</a:t>
            </a:r>
          </a:p>
          <a:p>
            <a:pPr marL="571500" indent="-571500"/>
            <a:r>
              <a:rPr lang="en-US" dirty="0"/>
              <a:t>Self-report is a bad measure of AI’s actual help</a:t>
            </a:r>
          </a:p>
          <a:p>
            <a:pPr marL="571500" indent="-571500"/>
            <a:r>
              <a:rPr lang="en-US" dirty="0"/>
              <a:t>Ask for the data, not the vibe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This Means as You Enter Industry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9284"/>
          </a:bodyPr>
          <a:lstStyle/>
          <a:p>
            <a:pPr marL="571500" indent="-571500"/>
            <a:r>
              <a:rPr lang="en-US" sz="2800" dirty="0"/>
              <a:t>The junior rung of the ladder is under pressure now</a:t>
            </a:r>
          </a:p>
          <a:p>
            <a:pPr marL="571500" indent="-571500"/>
            <a:r>
              <a:rPr lang="en-US" sz="2800" dirty="0"/>
              <a:t>Review, debugging, and systems judgment are appreciating skills</a:t>
            </a:r>
          </a:p>
          <a:p>
            <a:pPr marL="571500" indent="-571500"/>
            <a:r>
              <a:rPr lang="en-US" sz="2800" dirty="0"/>
              <a:t>Reading code fast matters more than writing it fast</a:t>
            </a:r>
          </a:p>
          <a:p>
            <a:pPr marL="571500" indent="-571500"/>
            <a:r>
              <a:rPr lang="en-US" sz="2800" dirty="0"/>
              <a:t>PhD rigor — specs, validation, methodology — determines who audits agents well</a:t>
            </a:r>
          </a:p>
          <a:p>
            <a:pPr marL="571500" indent="-571500"/>
            <a:r>
              <a:rPr lang="en-US" sz="2800" dirty="0"/>
              <a:t>Tool fluency is table stakes; judgment is the differentiator</a:t>
            </a:r>
          </a:p>
          <a:p>
            <a:pPr marL="571500" indent="-571500"/>
            <a:r>
              <a:rPr lang="en-US" sz="2800" dirty="0"/>
              <a:t>Nobody has this fully figured out, including who’s hiring you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Human-Made Guardrails Still Matter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4330" lnSpcReduction="10000"/>
          </a:bodyPr>
          <a:lstStyle/>
          <a:p>
            <a:pPr marL="571500" indent="-571500"/>
            <a:r>
              <a:rPr lang="en-US" dirty="0"/>
              <a:t>Not a self-correcting loop — potentially a self-poisoning one</a:t>
            </a:r>
          </a:p>
          <a:p>
            <a:pPr marL="571500" indent="-571500"/>
            <a:r>
              <a:rPr lang="en-US" dirty="0"/>
              <a:t>Human review alone doesn’t scale to LLM output volume</a:t>
            </a:r>
          </a:p>
          <a:p>
            <a:pPr lvl="1"/>
            <a:r>
              <a:rPr lang="en-US" dirty="0"/>
              <a:t>It’s also gameable: the xz backdoor, the UMN “hypocrite commits”</a:t>
            </a:r>
          </a:p>
          <a:p>
            <a:pPr marL="571500" indent="-571500"/>
            <a:r>
              <a:rPr lang="en-US" dirty="0"/>
              <a:t>The fix isn’t more eyeballs — it’s more human-designed checks</a:t>
            </a:r>
          </a:p>
          <a:p>
            <a:pPr lvl="1"/>
            <a:r>
              <a:rPr lang="en-US" dirty="0"/>
              <a:t>Fuzzing, mutation testing, specs written before code exists</a:t>
            </a:r>
          </a:p>
          <a:p>
            <a:pPr marL="571500" indent="-571500"/>
            <a:r>
              <a:rPr lang="en-US" dirty="0"/>
              <a:t>Bad AI code trains future AI models — </a:t>
            </a:r>
            <a:r>
              <a:rPr lang="en-US" i="1" dirty="0"/>
              <a:t>model collapse</a:t>
            </a:r>
          </a:p>
          <a:p>
            <a:pPr marL="571500" indent="-571500"/>
            <a:r>
              <a:rPr lang="en-US" dirty="0"/>
              <a:t>Non-negotiable: a human designs the checks, not just reviews output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Collapse: The Mechanism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254" lnSpcReduction="10000"/>
          </a:bodyPr>
          <a:lstStyle/>
          <a:p>
            <a:pPr marL="571500" indent="-571500"/>
            <a:r>
              <a:rPr lang="en-US" dirty="0"/>
              <a:t>Models train on public code, increasingly AI-generated</a:t>
            </a:r>
          </a:p>
          <a:p>
            <a:pPr marL="571500" indent="-571500"/>
            <a:r>
              <a:rPr lang="en-US" dirty="0"/>
              <a:t>Each generation can amplify the last one’s blind spots</a:t>
            </a:r>
          </a:p>
          <a:p>
            <a:pPr lvl="1"/>
            <a:r>
              <a:rPr lang="en-US" dirty="0"/>
              <a:t>Shumailov et al., Nature, 2024 — controlled experiments</a:t>
            </a:r>
          </a:p>
          <a:p>
            <a:pPr marL="571500" indent="-571500"/>
            <a:r>
              <a:rPr lang="en-US" dirty="0"/>
              <a:t>Whether this happens at scale in real pipelines is contested</a:t>
            </a:r>
          </a:p>
          <a:p>
            <a:pPr marL="571500" indent="-571500"/>
            <a:r>
              <a:rPr lang="en-US" dirty="0"/>
              <a:t>Risk either way: rare, correct patterns get sampled out</a:t>
            </a:r>
          </a:p>
          <a:p>
            <a:pPr marL="571500" indent="-571500"/>
            <a:r>
              <a:rPr lang="en-US" dirty="0"/>
              <a:t>Human-reviewed code is the hedge regardless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Risks, Limits, and What’s Next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0658" lnSpcReduction="10000"/>
          </a:bodyPr>
          <a:lstStyle/>
          <a:p>
            <a:pPr marL="571500" indent="-571500"/>
            <a:r>
              <a:rPr lang="en-US" dirty="0"/>
              <a:t>Guardrails only catch what they’re written to catch</a:t>
            </a:r>
          </a:p>
          <a:p>
            <a:pPr marL="571500" indent="-571500"/>
            <a:r>
              <a:rPr lang="en-US" dirty="0"/>
              <a:t>Overtrust in green checkmarks is its own failure mode</a:t>
            </a:r>
          </a:p>
          <a:p>
            <a:pPr marL="571500" indent="-571500"/>
            <a:r>
              <a:rPr lang="en-US" dirty="0"/>
              <a:t>Skills drift as models and libraries update</a:t>
            </a:r>
          </a:p>
          <a:p>
            <a:pPr marL="571500" indent="-571500"/>
            <a:r>
              <a:rPr lang="en-US" dirty="0"/>
              <a:t>Expect tighter planner-auditor loops, shared skill registries</a:t>
            </a:r>
          </a:p>
          <a:p>
            <a:pPr marL="571500" indent="-571500"/>
            <a:r>
              <a:rPr lang="en-US" dirty="0"/>
              <a:t>Humans shift from writing code to reviewing systems</a:t>
            </a:r>
          </a:p>
          <a:p>
            <a:pPr marL="571500" indent="-571500"/>
            <a:r>
              <a:rPr lang="en-US" dirty="0"/>
              <a:t>Today’s shape will keep changing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Discussion: Questions for the Room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1794" lnSpcReduction="10000"/>
          </a:bodyPr>
          <a:lstStyle/>
          <a:p>
            <a:pPr marL="571500" indent="-571500"/>
            <a:r>
              <a:rPr lang="en-US" dirty="0"/>
              <a:t>What would earn your trust in an agent’s PR on day one</a:t>
            </a:r>
          </a:p>
          <a:p>
            <a:pPr marL="571500" indent="-571500"/>
            <a:r>
              <a:rPr lang="en-US" dirty="0"/>
              <a:t>Where would you draw the line on agent autonomy</a:t>
            </a:r>
          </a:p>
          <a:p>
            <a:pPr marL="571500" indent="-571500"/>
            <a:r>
              <a:rPr lang="en-US" dirty="0"/>
              <a:t>How would you audit an agent you didn’t build</a:t>
            </a:r>
          </a:p>
          <a:p>
            <a:pPr marL="571500" indent="-571500"/>
            <a:r>
              <a:rPr lang="en-US" dirty="0"/>
              <a:t>What guardrail would you want before touching production code</a:t>
            </a:r>
          </a:p>
          <a:p>
            <a:pPr marL="571500" indent="-571500"/>
            <a:r>
              <a:rPr lang="en-US" dirty="0"/>
              <a:t>What do you want to know about the industry side</a:t>
            </a:r>
          </a:p>
          <a:p>
            <a:pPr marL="571500" indent="-571500"/>
            <a:r>
              <a:rPr lang="en-US" dirty="0"/>
              <a:t>Open floor: bring your own questions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Further Reading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59402" lnSpcReduction="20000"/>
          </a:bodyPr>
          <a:lstStyle/>
          <a:p>
            <a:pPr marL="571500" indent="-571500"/>
            <a:r>
              <a:rPr lang="en-US" dirty="0">
                <a:latin typeface="Consolas"/>
              </a:rPr>
              <a:t>gastownhall.ai</a:t>
            </a:r>
            <a:r>
              <a:rPr lang="en-US" dirty="0"/>
              <a:t>: Gastown docs and community hub</a:t>
            </a:r>
          </a:p>
          <a:p>
            <a:pPr marL="571500" indent="-571500"/>
            <a:r>
              <a:rPr lang="en-US" dirty="0" err="1"/>
              <a:t>StrongDM’s</a:t>
            </a:r>
            <a:r>
              <a:rPr lang="en-US" dirty="0"/>
              <a:t> “Software Factory” writeup (Simon Willison, Feb 2026)</a:t>
            </a:r>
          </a:p>
          <a:p>
            <a:pPr marL="571500" indent="-571500"/>
            <a:r>
              <a:rPr lang="en-US" dirty="0"/>
              <a:t>OpenAI’s “Harness Engineering” post</a:t>
            </a:r>
          </a:p>
          <a:p>
            <a:pPr marL="571500" indent="-571500"/>
            <a:r>
              <a:rPr lang="en-US" dirty="0" err="1"/>
              <a:t>Anthropic’s</a:t>
            </a:r>
            <a:r>
              <a:rPr lang="en-US" dirty="0"/>
              <a:t> 2026 State of AI Agents Report</a:t>
            </a:r>
          </a:p>
          <a:p>
            <a:pPr marL="571500" indent="-571500"/>
            <a:r>
              <a:rPr lang="en-US" dirty="0" err="1"/>
              <a:t>Northflank’s</a:t>
            </a:r>
            <a:r>
              <a:rPr lang="en-US" dirty="0"/>
              <a:t> enterprise AI coding deployment guide</a:t>
            </a:r>
          </a:p>
          <a:p>
            <a:pPr marL="571500" indent="-571500"/>
            <a:r>
              <a:rPr lang="en-US" dirty="0"/>
              <a:t>Sysdig’s JADEPUFFER/Langflow writeup (</a:t>
            </a:r>
            <a:r>
              <a:rPr lang="en-US" dirty="0">
                <a:latin typeface="Consolas"/>
              </a:rPr>
              <a:t>CVE-2025-3248</a:t>
            </a:r>
            <a:r>
              <a:rPr lang="en-US" dirty="0"/>
              <a:t>)</a:t>
            </a:r>
          </a:p>
          <a:p>
            <a:pPr marL="571500" indent="-571500"/>
            <a:r>
              <a:rPr lang="en-US" dirty="0"/>
              <a:t>Robert Half’s 2026 AI hiring and rehiring survey</a:t>
            </a:r>
          </a:p>
          <a:p>
            <a:pPr marL="571500" indent="-571500"/>
            <a:r>
              <a:rPr lang="en-US" dirty="0"/>
              <a:t>METR’s agentic coding RCT and task-horizon research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6A2A9-483B-FC56-BB52-1E6E204E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962287-FA7C-C8FD-5531-68A2FFAD38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64164" lnSpcReduction="20000"/>
          </a:bodyPr>
          <a:lstStyle/>
          <a:p>
            <a:pPr marL="571500" indent="-571500"/>
            <a:r>
              <a:rPr lang="en-US" dirty="0"/>
              <a:t>Dark factories run on layered guardrails, not trust</a:t>
            </a:r>
          </a:p>
          <a:p>
            <a:pPr marL="571500" indent="-571500"/>
            <a:r>
              <a:rPr lang="en-US" dirty="0"/>
              <a:t>SSDLC gates move left into the spec, down into CI</a:t>
            </a:r>
          </a:p>
          <a:p>
            <a:pPr marL="571500" indent="-571500"/>
            <a:r>
              <a:rPr lang="en-US" dirty="0"/>
              <a:t>Orchestration is maturing faster than confidence in it</a:t>
            </a:r>
          </a:p>
          <a:p>
            <a:pPr marL="571500" indent="-571500"/>
            <a:r>
              <a:rPr lang="en-US" dirty="0"/>
              <a:t>Security, permission scoping, audit trails are the hard parts</a:t>
            </a:r>
          </a:p>
          <a:p>
            <a:pPr marL="571500" indent="-571500"/>
            <a:r>
              <a:rPr lang="en-US" dirty="0"/>
              <a:t>Small commits, clean context, triaged review keep teams functional</a:t>
            </a:r>
          </a:p>
          <a:p>
            <a:pPr marL="571500" indent="-571500"/>
            <a:r>
              <a:rPr lang="en-US" dirty="0"/>
              <a:t>Adoption is near-universal; autonomy and trust are not</a:t>
            </a:r>
          </a:p>
          <a:p>
            <a:pPr marL="571500" indent="-571500"/>
            <a:r>
              <a:rPr lang="en-US" dirty="0"/>
              <a:t>Human-designed guardrails are what keep the loop from poisoning itself</a:t>
            </a:r>
          </a:p>
        </p:txBody>
      </p:sp>
    </p:spTree>
    <p:extLst>
      <p:ext uri="{BB962C8B-B14F-4D97-AF65-F5344CB8AC3E}">
        <p14:creationId xmlns:p14="http://schemas.microsoft.com/office/powerpoint/2010/main" val="2161850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6997</TotalTime>
  <Words>4592</Words>
  <Application>Microsoft Macintosh PowerPoint</Application>
  <PresentationFormat>Widescreen</PresentationFormat>
  <Paragraphs>409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Aptos</vt:lpstr>
      <vt:lpstr>Arial</vt:lpstr>
      <vt:lpstr>Consolas</vt:lpstr>
      <vt:lpstr>Office Theme</vt:lpstr>
      <vt:lpstr>The Dark Factory</vt:lpstr>
      <vt:lpstr>Agenda</vt:lpstr>
      <vt:lpstr>Disclaimer</vt:lpstr>
      <vt:lpstr>The Dark Factory Concept</vt:lpstr>
      <vt:lpstr>What Actually Changed: Task Horizon</vt:lpstr>
      <vt:lpstr>From SSDLC to Dark Factory SDLC</vt:lpstr>
      <vt:lpstr>The Traditional Pipeline</vt:lpstr>
      <vt:lpstr>The Compressed Pipeline</vt:lpstr>
      <vt:lpstr>Guardrails: Defense in Depth</vt:lpstr>
      <vt:lpstr>Guardrails: Automated Testing</vt:lpstr>
      <vt:lpstr>Testing Pitfall: Agents Writing Their Own Tests</vt:lpstr>
      <vt:lpstr>Guardrails: Static Analysis</vt:lpstr>
      <vt:lpstr>Type Systems as Free Guardrails</vt:lpstr>
      <vt:lpstr>CI as the Enforcement Point</vt:lpstr>
      <vt:lpstr>Guardrail Metrics That Actually Matter</vt:lpstr>
      <vt:lpstr>LLM Skills as Building Blocks</vt:lpstr>
      <vt:lpstr>Anatomy of a Skill</vt:lpstr>
      <vt:lpstr>Skill Versioning and Reuse</vt:lpstr>
      <vt:lpstr>Orchestration Flow</vt:lpstr>
      <vt:lpstr>Why Separate Roles at All</vt:lpstr>
      <vt:lpstr>The Four Roles</vt:lpstr>
      <vt:lpstr>Handoff Failure Modes</vt:lpstr>
      <vt:lpstr>Gastown: Orchestrating Agents at Scale</vt:lpstr>
      <vt:lpstr>The Eight Stages of Agent Autonomy</vt:lpstr>
      <vt:lpstr>Three Classes of Firms for Full Autonomy</vt:lpstr>
      <vt:lpstr>Mapping the Three Classes</vt:lpstr>
      <vt:lpstr>The Engineer’s Job: Shrink the Workspace</vt:lpstr>
      <vt:lpstr>Where Most Teams Actually Sit</vt:lpstr>
      <vt:lpstr>Auditing and Observability</vt:lpstr>
      <vt:lpstr>Replay and Root Cause</vt:lpstr>
      <vt:lpstr>Fintech: Regulatory Audit Requirements</vt:lpstr>
      <vt:lpstr>Security: How a Chain Actually Works</vt:lpstr>
      <vt:lpstr>Security: CVE Chaining Risks</vt:lpstr>
      <vt:lpstr>The Agent Attack Surface</vt:lpstr>
      <vt:lpstr>When Agents Go Wrong: Real Incidents</vt:lpstr>
      <vt:lpstr>Permission Scoping and Progressive Autonomy</vt:lpstr>
      <vt:lpstr>Secrets and Credential Handling</vt:lpstr>
      <vt:lpstr>PR Churn and Review Fatigue</vt:lpstr>
      <vt:lpstr>Review Triage: What Humans Should See</vt:lpstr>
      <vt:lpstr>Routing Reviews by Risk</vt:lpstr>
      <vt:lpstr>What Review Culture Looks Like From Outside</vt:lpstr>
      <vt:lpstr>Context Management Discipline</vt:lpstr>
      <vt:lpstr>Worktrees and Subagents in Practice</vt:lpstr>
      <vt:lpstr>Practical Habits: Commit Often</vt:lpstr>
      <vt:lpstr>Enterprise Adoption: Pilots vs. Production</vt:lpstr>
      <vt:lpstr>Economics: Token Costs and the Enterprise Bill</vt:lpstr>
      <vt:lpstr>Economics: Layoffs</vt:lpstr>
      <vt:lpstr>Is AI Actually Replacing Developers?</vt:lpstr>
      <vt:lpstr>Do Agents Actually Make You Faster?</vt:lpstr>
      <vt:lpstr>What This Means as You Enter Industry</vt:lpstr>
      <vt:lpstr>Why Human-Made GuardrailsStill Matter</vt:lpstr>
      <vt:lpstr>Model Collapse: The Mechanism</vt:lpstr>
      <vt:lpstr>Risks, Limits, and What’s Next</vt:lpstr>
      <vt:lpstr>Discussion: Questions for the Room</vt:lpstr>
      <vt:lpstr>Further Reading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Davis, Clayton</dc:creator>
  <cp:lastModifiedBy>Hochstetler, Jacob</cp:lastModifiedBy>
  <cp:revision>61</cp:revision>
  <cp:lastPrinted>2019-10-14T17:08:08Z</cp:lastPrinted>
  <dcterms:created xsi:type="dcterms:W3CDTF">2019-07-08T18:39:15Z</dcterms:created>
  <dcterms:modified xsi:type="dcterms:W3CDTF">2026-09-23T14:09:55Z</dcterms:modified>
</cp:coreProperties>
</file>